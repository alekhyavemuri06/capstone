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800" b="0" i="0" u="none" strike="noStrike">
                <a:solidFill>
                  <a:srgbClr val="000000"/>
                </a:solidFill>
                <a:latin typeface="Arial"/>
              </a:defRPr>
            </a:pPr>
            <a:r>
              <a:rPr sz="1800" b="0" i="0" u="none" strike="noStrike">
                <a:solidFill>
                  <a:srgbClr val="000000"/>
                </a:solidFill>
                <a:latin typeface="Arial"/>
              </a:rPr>
              <a:t>Test Accuracy by Model</a:t>
            </a:r>
          </a:p>
        </c:rich>
      </c:tx>
      <c:layout/>
      <c:overlay val="0"/>
    </c:title>
    <c:autoTitleDeleted val="0"/>
    <c:plotArea>
      <c:layout/>
      <c:barChart>
        <c:barDir val="col"/>
        <c:grouping val="clustered"/>
        <c:varyColors val="0"/>
        <c:ser>
          <c:idx val="0"/>
          <c:order val="0"/>
          <c:tx>
            <c:strRef>
              <c:f>Sheet1!$B$1</c:f>
              <c:strCache>
                <c:ptCount val="1"/>
                <c:pt idx="0">
                  <c:v>Test Accuracy (%)</c:v>
                </c:pt>
              </c:strCache>
            </c:strRef>
          </c:tx>
          <c:spPr>
            <a:solidFill>
              <a:srgbClr val="8899A8"/>
            </a:solidFill>
            <a:effectLst/>
          </c:spPr>
          <c:invertIfNegative val="0"/>
          <c:dLbls>
            <c:numFmt formatCode="#,##0" sourceLinked="0"/>
            <c:txPr>
              <a:bodyPr/>
              <a:lstStyle/>
              <a:p>
                <a:pPr>
                  <a:defRPr b="0" i="0" strike="noStrike" sz="1200" u="none">
                    <a:solidFill>
                      <a:srgbClr val="1B2E3C"/>
                    </a:solidFill>
                    <a:latin typeface="Arial"/>
                  </a:defRPr>
                </a:pPr>
              </a:p>
            </c:txPr>
            <c:showLegendKey val="0"/>
            <c:showVal val="1"/>
            <c:showCatName val="0"/>
            <c:showSerName val="0"/>
            <c:showPercent val="0"/>
            <c:showBubbleSize val="0"/>
            <c:showLeaderLines val="0"/>
          </c:dLbls>
          <c:dPt>
            <c:idx val="0"/>
            <c:invertIfNegative val="0"/>
            <c:bubble3D val="0"/>
            <c:spPr>
              <a:solidFill>
                <a:srgbClr val="8899A8"/>
              </a:solidFill>
              <a:effectLst/>
            </c:spPr>
          </c:dPt>
          <c:dPt>
            <c:idx val="1"/>
            <c:invertIfNegative val="0"/>
            <c:bubble3D val="0"/>
            <c:spPr>
              <a:solidFill>
                <a:srgbClr val="1A9CB0"/>
              </a:solidFill>
              <a:effectLst/>
            </c:spPr>
          </c:dPt>
          <c:dPt>
            <c:idx val="2"/>
            <c:invertIfNegative val="0"/>
            <c:bubble3D val="0"/>
            <c:spPr>
              <a:solidFill>
                <a:srgbClr val="1A9CB0"/>
              </a:solidFill>
              <a:effectLst/>
            </c:spPr>
          </c:dPt>
          <c:dPt>
            <c:idx val="3"/>
            <c:invertIfNegative val="0"/>
            <c:bubble3D val="0"/>
            <c:spPr>
              <a:solidFill>
                <a:srgbClr val="0A6E8A"/>
              </a:solidFill>
              <a:effectLst/>
            </c:spPr>
          </c:dPt>
          <c:dPt>
            <c:idx val="4"/>
            <c:invertIfNegative val="0"/>
            <c:bubble3D val="0"/>
            <c:spPr>
              <a:solidFill>
                <a:srgbClr val="F4A03A"/>
              </a:solidFill>
              <a:effectLst/>
            </c:spPr>
          </c:dPt>
          <c:cat>
            <c:multiLvlStrRef>
              <c:f>Sheet1!$A$2:$A$6</c:f>
              <c:multiLvlStrCache>
                <c:ptCount val="5"/>
                <c:lvl>
                  <c:pt idx="0">
                    <c:v>M0: Naïve Bayes</c:v>
                  </c:pt>
                  <c:pt idx="1">
                    <c:v>M3: Conv1D Char</c:v>
                  </c:pt>
                  <c:pt idx="2">
                    <c:v>M1: Conv1D Token</c:v>
                  </c:pt>
                  <c:pt idx="3">
                    <c:v>M2: MiniLM</c:v>
                  </c:pt>
                  <c:pt idx="4">
                    <c:v>M4: BERT</c:v>
                  </c:pt>
                </c:lvl>
              </c:multiLvlStrCache>
            </c:multiLvlStrRef>
          </c:cat>
          <c:val>
            <c:numRef>
              <c:f>Sheet1!$B$2:$B$6</c:f>
              <c:numCache>
                <c:formatCode>General</c:formatCode>
                <c:ptCount val="5"/>
                <c:pt idx="0">
                  <c:v>73</c:v>
                </c:pt>
                <c:pt idx="1">
                  <c:v>79</c:v>
                </c:pt>
                <c:pt idx="2">
                  <c:v>81</c:v>
                </c:pt>
                <c:pt idx="3">
                  <c:v>85</c:v>
                </c:pt>
                <c:pt idx="4">
                  <c:v>90</c:v>
                </c:pt>
              </c:numCache>
            </c:numRef>
          </c:val>
        </c:ser>
        <c:dLbls>
          <c:numFmt formatCode="#,##0" sourceLinked="0"/>
          <c:txPr>
            <a:bodyPr/>
            <a:lstStyle/>
            <a:p>
              <a:pPr>
                <a:defRPr b="0" i="0" strike="noStrike" sz="1200" u="none">
                  <a:solidFill>
                    <a:srgbClr val="1B2E3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E3C"/>
                </a:solidFill>
                <a:latin typeface="Arial"/>
              </a:defRPr>
            </a:pPr>
            <a:endParaRPr lang="en-US"/>
          </a:p>
        </c:txPr>
        <c:crossAx val="2094734552"/>
        <c:crosses val="autoZero"/>
        <c:auto val="1"/>
        <c:lblAlgn val="ctr"/>
        <c:noMultiLvlLbl val="1"/>
      </c:catAx>
      <c:valAx>
        <c:axId val="2094734552"/>
        <c:scaling>
          <c:orientation val="minMax"/>
          <c:max val="100"/>
          <c:min val="65"/>
        </c:scaling>
        <c:delete val="0"/>
        <c:axPos val="l"/>
        <c:majorGridlines>
          <c:spPr>
            <a:ln w="6350" cap="flat">
              <a:solidFill>
                <a:srgbClr val="E0ED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ACBC"/>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365760" cy="5143500"/>
          </a:xfrm>
          <a:prstGeom prst="rect">
            <a:avLst/>
          </a:prstGeom>
          <a:solidFill>
            <a:srgbClr val="F4A03A"/>
          </a:solidFill>
          <a:ln w="12700">
            <a:solidFill>
              <a:srgbClr val="F4A03A"/>
            </a:solidFill>
            <a:prstDash val="solid"/>
          </a:ln>
        </p:spPr>
      </p:sp>
      <p:sp>
        <p:nvSpPr>
          <p:cNvPr id="3" name="Shape 1"/>
          <p:cNvSpPr/>
          <p:nvPr/>
        </p:nvSpPr>
        <p:spPr>
          <a:xfrm>
            <a:off x="6400800" y="0"/>
            <a:ext cx="2743200" cy="5143500"/>
          </a:xfrm>
          <a:prstGeom prst="rect">
            <a:avLst/>
          </a:prstGeom>
          <a:solidFill>
            <a:srgbClr val="0A2A3A"/>
          </a:solidFill>
          <a:ln w="12700">
            <a:solidFill>
              <a:srgbClr val="0A2A3A"/>
            </a:solidFill>
            <a:prstDash val="solid"/>
          </a:ln>
        </p:spPr>
      </p:sp>
      <p:sp>
        <p:nvSpPr>
          <p:cNvPr id="4" name="Text 2"/>
          <p:cNvSpPr/>
          <p:nvPr/>
        </p:nvSpPr>
        <p:spPr>
          <a:xfrm>
            <a:off x="594360" y="777240"/>
            <a:ext cx="5669280" cy="73152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Sequential Sentence</a:t>
            </a:r>
            <a:endParaRPr lang="en-US" sz="3800" dirty="0"/>
          </a:p>
        </p:txBody>
      </p:sp>
      <p:sp>
        <p:nvSpPr>
          <p:cNvPr id="5" name="Text 3"/>
          <p:cNvSpPr/>
          <p:nvPr/>
        </p:nvSpPr>
        <p:spPr>
          <a:xfrm>
            <a:off x="594360" y="1463040"/>
            <a:ext cx="5669280" cy="731520"/>
          </a:xfrm>
          <a:prstGeom prst="rect">
            <a:avLst/>
          </a:prstGeom>
          <a:noFill/>
          <a:ln/>
        </p:spPr>
        <p:txBody>
          <a:bodyPr wrap="square" lIns="0" tIns="0" rIns="0" bIns="0" rtlCol="0" anchor="ctr"/>
          <a:lstStyle/>
          <a:p>
            <a:pPr indent="0" marL="0">
              <a:buNone/>
            </a:pPr>
            <a:r>
              <a:rPr lang="en-US" sz="3800" b="1" dirty="0">
                <a:solidFill>
                  <a:srgbClr val="F4A03A"/>
                </a:solidFill>
                <a:latin typeface="Calibri" pitchFamily="34" charset="0"/>
                <a:ea typeface="Calibri" pitchFamily="34" charset="-122"/>
                <a:cs typeface="Calibri" pitchFamily="34" charset="-120"/>
              </a:rPr>
              <a:t>Classification</a:t>
            </a:r>
            <a:endParaRPr lang="en-US" sz="3800" dirty="0"/>
          </a:p>
        </p:txBody>
      </p:sp>
      <p:sp>
        <p:nvSpPr>
          <p:cNvPr id="6" name="Text 4"/>
          <p:cNvSpPr/>
          <p:nvPr/>
        </p:nvSpPr>
        <p:spPr>
          <a:xfrm>
            <a:off x="594360" y="2240280"/>
            <a:ext cx="5577840" cy="502920"/>
          </a:xfrm>
          <a:prstGeom prst="rect">
            <a:avLst/>
          </a:prstGeom>
          <a:noFill/>
          <a:ln/>
        </p:spPr>
        <p:txBody>
          <a:bodyPr wrap="square" lIns="0" tIns="0" rIns="0" bIns="0" rtlCol="0" anchor="ctr"/>
          <a:lstStyle/>
          <a:p>
            <a:pPr indent="0" marL="0">
              <a:buNone/>
            </a:pPr>
            <a:r>
              <a:rPr lang="en-US" sz="1300" i="1" dirty="0">
                <a:solidFill>
                  <a:srgbClr val="8AACBC"/>
                </a:solidFill>
              </a:rPr>
              <a:t>Using AI to turn dense medical abstracts into structured, scannable summaries</a:t>
            </a:r>
            <a:endParaRPr lang="en-US" sz="1300" dirty="0"/>
          </a:p>
        </p:txBody>
      </p:sp>
      <p:sp>
        <p:nvSpPr>
          <p:cNvPr id="7" name="Text 5"/>
          <p:cNvSpPr/>
          <p:nvPr/>
        </p:nvSpPr>
        <p:spPr>
          <a:xfrm>
            <a:off x="6583680" y="777240"/>
            <a:ext cx="2331720" cy="274320"/>
          </a:xfrm>
          <a:prstGeom prst="rect">
            <a:avLst/>
          </a:prstGeom>
          <a:noFill/>
          <a:ln/>
        </p:spPr>
        <p:txBody>
          <a:bodyPr wrap="square" lIns="0" tIns="0" rIns="0" bIns="0" rtlCol="0" anchor="ctr"/>
          <a:lstStyle/>
          <a:p>
            <a:pPr indent="0" marL="0">
              <a:buNone/>
            </a:pPr>
            <a:r>
              <a:rPr lang="en-US" sz="900" b="1" spc="200" kern="0" dirty="0">
                <a:solidFill>
                  <a:srgbClr val="F4A03A"/>
                </a:solidFill>
              </a:rPr>
              <a:t>THE PROBLEM</a:t>
            </a:r>
            <a:endParaRPr lang="en-US" sz="900" dirty="0"/>
          </a:p>
        </p:txBody>
      </p:sp>
      <p:sp>
        <p:nvSpPr>
          <p:cNvPr id="8" name="Text 6"/>
          <p:cNvSpPr/>
          <p:nvPr/>
        </p:nvSpPr>
        <p:spPr>
          <a:xfrm>
            <a:off x="6583680" y="1069848"/>
            <a:ext cx="2331720" cy="685800"/>
          </a:xfrm>
          <a:prstGeom prst="rect">
            <a:avLst/>
          </a:prstGeom>
          <a:noFill/>
          <a:ln/>
        </p:spPr>
        <p:txBody>
          <a:bodyPr wrap="square" lIns="0" tIns="0" rIns="0" bIns="0" rtlCol="0" anchor="ctr"/>
          <a:lstStyle/>
          <a:p>
            <a:pPr indent="0" marL="0">
              <a:buNone/>
            </a:pPr>
            <a:r>
              <a:rPr lang="en-US" sz="1100" dirty="0">
                <a:solidFill>
                  <a:srgbClr val="FFFFFF"/>
                </a:solidFill>
              </a:rPr>
              <a:t>Researchers waste hours reading abstracts to find what's relevant.</a:t>
            </a:r>
            <a:endParaRPr lang="en-US" sz="1100" dirty="0"/>
          </a:p>
        </p:txBody>
      </p:sp>
      <p:sp>
        <p:nvSpPr>
          <p:cNvPr id="9" name="Text 7"/>
          <p:cNvSpPr/>
          <p:nvPr/>
        </p:nvSpPr>
        <p:spPr>
          <a:xfrm>
            <a:off x="6583680" y="2103120"/>
            <a:ext cx="2331720" cy="274320"/>
          </a:xfrm>
          <a:prstGeom prst="rect">
            <a:avLst/>
          </a:prstGeom>
          <a:noFill/>
          <a:ln/>
        </p:spPr>
        <p:txBody>
          <a:bodyPr wrap="square" lIns="0" tIns="0" rIns="0" bIns="0" rtlCol="0" anchor="ctr"/>
          <a:lstStyle/>
          <a:p>
            <a:pPr indent="0" marL="0">
              <a:buNone/>
            </a:pPr>
            <a:r>
              <a:rPr lang="en-US" sz="900" b="1" spc="200" kern="0" dirty="0">
                <a:solidFill>
                  <a:srgbClr val="F4A03A"/>
                </a:solidFill>
              </a:rPr>
              <a:t>OUR APPROACH</a:t>
            </a:r>
            <a:endParaRPr lang="en-US" sz="900" dirty="0"/>
          </a:p>
        </p:txBody>
      </p:sp>
      <p:sp>
        <p:nvSpPr>
          <p:cNvPr id="10" name="Text 8"/>
          <p:cNvSpPr/>
          <p:nvPr/>
        </p:nvSpPr>
        <p:spPr>
          <a:xfrm>
            <a:off x="6583680" y="2395728"/>
            <a:ext cx="2331720" cy="685800"/>
          </a:xfrm>
          <a:prstGeom prst="rect">
            <a:avLst/>
          </a:prstGeom>
          <a:noFill/>
          <a:ln/>
        </p:spPr>
        <p:txBody>
          <a:bodyPr wrap="square" lIns="0" tIns="0" rIns="0" bIns="0" rtlCol="0" anchor="ctr"/>
          <a:lstStyle/>
          <a:p>
            <a:pPr indent="0" marL="0">
              <a:buNone/>
            </a:pPr>
            <a:r>
              <a:rPr lang="en-US" sz="1100" dirty="0">
                <a:solidFill>
                  <a:srgbClr val="FFFFFF"/>
                </a:solidFill>
              </a:rPr>
              <a:t>5 AI models tested — from baseline to BERT fine-tuning.</a:t>
            </a:r>
            <a:endParaRPr lang="en-US" sz="1100" dirty="0"/>
          </a:p>
        </p:txBody>
      </p:sp>
      <p:sp>
        <p:nvSpPr>
          <p:cNvPr id="11" name="Text 9"/>
          <p:cNvSpPr/>
          <p:nvPr/>
        </p:nvSpPr>
        <p:spPr>
          <a:xfrm>
            <a:off x="6583680" y="3429000"/>
            <a:ext cx="2331720" cy="274320"/>
          </a:xfrm>
          <a:prstGeom prst="rect">
            <a:avLst/>
          </a:prstGeom>
          <a:noFill/>
          <a:ln/>
        </p:spPr>
        <p:txBody>
          <a:bodyPr wrap="square" lIns="0" tIns="0" rIns="0" bIns="0" rtlCol="0" anchor="ctr"/>
          <a:lstStyle/>
          <a:p>
            <a:pPr indent="0" marL="0">
              <a:buNone/>
            </a:pPr>
            <a:r>
              <a:rPr lang="en-US" sz="900" b="1" spc="200" kern="0" dirty="0">
                <a:solidFill>
                  <a:srgbClr val="F4A03A"/>
                </a:solidFill>
              </a:rPr>
              <a:t>THE RESULT</a:t>
            </a:r>
            <a:endParaRPr lang="en-US" sz="900" dirty="0"/>
          </a:p>
        </p:txBody>
      </p:sp>
      <p:sp>
        <p:nvSpPr>
          <p:cNvPr id="12" name="Text 10"/>
          <p:cNvSpPr/>
          <p:nvPr/>
        </p:nvSpPr>
        <p:spPr>
          <a:xfrm>
            <a:off x="6583680" y="3721608"/>
            <a:ext cx="2331720" cy="685800"/>
          </a:xfrm>
          <a:prstGeom prst="rect">
            <a:avLst/>
          </a:prstGeom>
          <a:noFill/>
          <a:ln/>
        </p:spPr>
        <p:txBody>
          <a:bodyPr wrap="square" lIns="0" tIns="0" rIns="0" bIns="0" rtlCol="0" anchor="ctr"/>
          <a:lstStyle/>
          <a:p>
            <a:pPr indent="0" marL="0">
              <a:buNone/>
            </a:pPr>
            <a:r>
              <a:rPr lang="en-US" sz="1100" dirty="0">
                <a:solidFill>
                  <a:srgbClr val="FFFFFF"/>
                </a:solidFill>
              </a:rPr>
              <a:t>~90% accuracy. Abstracts structured automatically in real time.</a:t>
            </a:r>
            <a:endParaRPr lang="en-US" sz="1100" dirty="0"/>
          </a:p>
        </p:txBody>
      </p:sp>
      <p:sp>
        <p:nvSpPr>
          <p:cNvPr id="13" name="Text 11"/>
          <p:cNvSpPr/>
          <p:nvPr/>
        </p:nvSpPr>
        <p:spPr>
          <a:xfrm>
            <a:off x="594360" y="4663440"/>
            <a:ext cx="4572000" cy="256032"/>
          </a:xfrm>
          <a:prstGeom prst="rect">
            <a:avLst/>
          </a:prstGeom>
          <a:noFill/>
          <a:ln/>
        </p:spPr>
        <p:txBody>
          <a:bodyPr wrap="square" lIns="0" tIns="0" rIns="0" bIns="0" rtlCol="0" anchor="ctr"/>
          <a:lstStyle/>
          <a:p>
            <a:pPr indent="0" marL="0">
              <a:buNone/>
            </a:pPr>
            <a:r>
              <a:rPr lang="en-US" sz="950" dirty="0">
                <a:solidFill>
                  <a:srgbClr val="8AACBC"/>
                </a:solidFill>
              </a:rPr>
              <a:t>AI Engineer Capstone Project  |  February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THE PROBLEM</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Researchers Spend Hours Finding What They Need</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a:t>
            </a:r>
            <a:endParaRPr lang="en-US" sz="850" dirty="0"/>
          </a:p>
        </p:txBody>
      </p:sp>
      <p:sp>
        <p:nvSpPr>
          <p:cNvPr id="8" name="Shape 6"/>
          <p:cNvSpPr/>
          <p:nvPr/>
        </p:nvSpPr>
        <p:spPr>
          <a:xfrm>
            <a:off x="347472" y="1417320"/>
            <a:ext cx="2606040" cy="315468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47472" y="1417320"/>
            <a:ext cx="54864" cy="3154680"/>
          </a:xfrm>
          <a:prstGeom prst="rect">
            <a:avLst/>
          </a:prstGeom>
          <a:solidFill>
            <a:srgbClr val="F4A03A"/>
          </a:solidFill>
          <a:ln w="12700">
            <a:solidFill>
              <a:srgbClr val="F4A03A"/>
            </a:solidFill>
            <a:prstDash val="solid"/>
          </a:ln>
        </p:spPr>
      </p:sp>
      <p:sp>
        <p:nvSpPr>
          <p:cNvPr id="10" name="Text 8"/>
          <p:cNvSpPr/>
          <p:nvPr/>
        </p:nvSpPr>
        <p:spPr>
          <a:xfrm>
            <a:off x="530352" y="1536192"/>
            <a:ext cx="2286000" cy="475488"/>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1" name="Text 9"/>
          <p:cNvSpPr/>
          <p:nvPr/>
        </p:nvSpPr>
        <p:spPr>
          <a:xfrm>
            <a:off x="530352" y="2029968"/>
            <a:ext cx="2286000" cy="384048"/>
          </a:xfrm>
          <a:prstGeom prst="rect">
            <a:avLst/>
          </a:prstGeom>
          <a:noFill/>
          <a:ln/>
        </p:spPr>
        <p:txBody>
          <a:bodyPr wrap="square" lIns="0" tIns="0" rIns="0" bIns="0" rtlCol="0" anchor="ctr"/>
          <a:lstStyle/>
          <a:p>
            <a:pPr indent="0" marL="0">
              <a:buNone/>
            </a:pPr>
            <a:r>
              <a:rPr lang="en-US" sz="1250" b="1" dirty="0">
                <a:solidFill>
                  <a:srgbClr val="0A6E8A"/>
                </a:solidFill>
              </a:rPr>
              <a:t>Dense, Unstructured Text</a:t>
            </a:r>
            <a:endParaRPr lang="en-US" sz="1250" dirty="0"/>
          </a:p>
        </p:txBody>
      </p:sp>
      <p:sp>
        <p:nvSpPr>
          <p:cNvPr id="12" name="Text 10"/>
          <p:cNvSpPr/>
          <p:nvPr/>
        </p:nvSpPr>
        <p:spPr>
          <a:xfrm>
            <a:off x="530352" y="2450592"/>
            <a:ext cx="2286000" cy="2011680"/>
          </a:xfrm>
          <a:prstGeom prst="rect">
            <a:avLst/>
          </a:prstGeom>
          <a:noFill/>
          <a:ln/>
        </p:spPr>
        <p:txBody>
          <a:bodyPr wrap="square" lIns="0" tIns="0" rIns="0" bIns="0" rtlCol="0" anchor="ctr"/>
          <a:lstStyle/>
          <a:p>
            <a:pPr indent="0" marL="0">
              <a:buNone/>
            </a:pPr>
            <a:r>
              <a:rPr lang="en-US" sz="1050" dirty="0">
                <a:solidFill>
                  <a:srgbClr val="1B2E3C"/>
                </a:solidFill>
              </a:rPr>
              <a:t>Medical abstracts are written as continuous paragraphs. Background, methods, and results are buried in the same block of text with no visual separation.</a:t>
            </a:r>
            <a:endParaRPr lang="en-US" sz="1050" dirty="0"/>
          </a:p>
        </p:txBody>
      </p:sp>
      <p:sp>
        <p:nvSpPr>
          <p:cNvPr id="13" name="Shape 11"/>
          <p:cNvSpPr/>
          <p:nvPr/>
        </p:nvSpPr>
        <p:spPr>
          <a:xfrm>
            <a:off x="3182112" y="1417320"/>
            <a:ext cx="2606040" cy="315468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14" name="Shape 12"/>
          <p:cNvSpPr/>
          <p:nvPr/>
        </p:nvSpPr>
        <p:spPr>
          <a:xfrm>
            <a:off x="3182112" y="1417320"/>
            <a:ext cx="54864" cy="3154680"/>
          </a:xfrm>
          <a:prstGeom prst="rect">
            <a:avLst/>
          </a:prstGeom>
          <a:solidFill>
            <a:srgbClr val="F4A03A"/>
          </a:solidFill>
          <a:ln w="12700">
            <a:solidFill>
              <a:srgbClr val="F4A03A"/>
            </a:solidFill>
            <a:prstDash val="solid"/>
          </a:ln>
        </p:spPr>
      </p:sp>
      <p:sp>
        <p:nvSpPr>
          <p:cNvPr id="15" name="Text 13"/>
          <p:cNvSpPr/>
          <p:nvPr/>
        </p:nvSpPr>
        <p:spPr>
          <a:xfrm>
            <a:off x="3364992" y="1536192"/>
            <a:ext cx="2286000" cy="475488"/>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16" name="Text 14"/>
          <p:cNvSpPr/>
          <p:nvPr/>
        </p:nvSpPr>
        <p:spPr>
          <a:xfrm>
            <a:off x="3364992" y="2029968"/>
            <a:ext cx="2286000" cy="384048"/>
          </a:xfrm>
          <a:prstGeom prst="rect">
            <a:avLst/>
          </a:prstGeom>
          <a:noFill/>
          <a:ln/>
        </p:spPr>
        <p:txBody>
          <a:bodyPr wrap="square" lIns="0" tIns="0" rIns="0" bIns="0" rtlCol="0" anchor="ctr"/>
          <a:lstStyle/>
          <a:p>
            <a:pPr indent="0" marL="0">
              <a:buNone/>
            </a:pPr>
            <a:r>
              <a:rPr lang="en-US" sz="1250" b="1" dirty="0">
                <a:solidFill>
                  <a:srgbClr val="0A6E8A"/>
                </a:solidFill>
              </a:rPr>
              <a:t>Time-Consuming Skimming</a:t>
            </a:r>
            <a:endParaRPr lang="en-US" sz="1250" dirty="0"/>
          </a:p>
        </p:txBody>
      </p:sp>
      <p:sp>
        <p:nvSpPr>
          <p:cNvPr id="17" name="Text 15"/>
          <p:cNvSpPr/>
          <p:nvPr/>
        </p:nvSpPr>
        <p:spPr>
          <a:xfrm>
            <a:off x="3364992" y="2450592"/>
            <a:ext cx="2286000" cy="2011680"/>
          </a:xfrm>
          <a:prstGeom prst="rect">
            <a:avLst/>
          </a:prstGeom>
          <a:noFill/>
          <a:ln/>
        </p:spPr>
        <p:txBody>
          <a:bodyPr wrap="square" lIns="0" tIns="0" rIns="0" bIns="0" rtlCol="0" anchor="ctr"/>
          <a:lstStyle/>
          <a:p>
            <a:pPr indent="0" marL="0">
              <a:buNone/>
            </a:pPr>
            <a:r>
              <a:rPr lang="en-US" sz="1050" dirty="0">
                <a:solidFill>
                  <a:srgbClr val="1B2E3C"/>
                </a:solidFill>
              </a:rPr>
              <a:t>A researcher reviewing 50 papers must read every sentence to find if it contains a result or a conclusion — even if they only need one of those sections.</a:t>
            </a:r>
            <a:endParaRPr lang="en-US" sz="1050" dirty="0"/>
          </a:p>
        </p:txBody>
      </p:sp>
      <p:sp>
        <p:nvSpPr>
          <p:cNvPr id="18" name="Shape 16"/>
          <p:cNvSpPr/>
          <p:nvPr/>
        </p:nvSpPr>
        <p:spPr>
          <a:xfrm>
            <a:off x="6016752" y="1417320"/>
            <a:ext cx="2606040" cy="315468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19" name="Shape 17"/>
          <p:cNvSpPr/>
          <p:nvPr/>
        </p:nvSpPr>
        <p:spPr>
          <a:xfrm>
            <a:off x="6016752" y="1417320"/>
            <a:ext cx="54864" cy="3154680"/>
          </a:xfrm>
          <a:prstGeom prst="rect">
            <a:avLst/>
          </a:prstGeom>
          <a:solidFill>
            <a:srgbClr val="F4A03A"/>
          </a:solidFill>
          <a:ln w="12700">
            <a:solidFill>
              <a:srgbClr val="F4A03A"/>
            </a:solidFill>
            <a:prstDash val="solid"/>
          </a:ln>
        </p:spPr>
      </p:sp>
      <p:sp>
        <p:nvSpPr>
          <p:cNvPr id="20" name="Text 18"/>
          <p:cNvSpPr/>
          <p:nvPr/>
        </p:nvSpPr>
        <p:spPr>
          <a:xfrm>
            <a:off x="6199632" y="1536192"/>
            <a:ext cx="2286000" cy="475488"/>
          </a:xfrm>
          <a:prstGeom prst="rect">
            <a:avLst/>
          </a:prstGeom>
          <a:noFill/>
          <a:ln/>
        </p:spPr>
        <p:txBody>
          <a:bodyPr wrap="square" lIns="0" tIns="0" rIns="0" bIns="0" rtlCol="0" anchor="ctr"/>
          <a:lstStyle/>
          <a:p>
            <a:pPr indent="0" marL="0">
              <a:buNone/>
            </a:pPr>
            <a:r>
              <a:rPr lang="en-US" sz="2600" dirty="0">
                <a:solidFill>
                  <a:srgbClr val="000000"/>
                </a:solidFill>
              </a:rPr>
              <a:t>🔍</a:t>
            </a:r>
            <a:endParaRPr lang="en-US" sz="2600" dirty="0"/>
          </a:p>
        </p:txBody>
      </p:sp>
      <p:sp>
        <p:nvSpPr>
          <p:cNvPr id="21" name="Text 19"/>
          <p:cNvSpPr/>
          <p:nvPr/>
        </p:nvSpPr>
        <p:spPr>
          <a:xfrm>
            <a:off x="6199632" y="2029968"/>
            <a:ext cx="2286000" cy="384048"/>
          </a:xfrm>
          <a:prstGeom prst="rect">
            <a:avLst/>
          </a:prstGeom>
          <a:noFill/>
          <a:ln/>
        </p:spPr>
        <p:txBody>
          <a:bodyPr wrap="square" lIns="0" tIns="0" rIns="0" bIns="0" rtlCol="0" anchor="ctr"/>
          <a:lstStyle/>
          <a:p>
            <a:pPr indent="0" marL="0">
              <a:buNone/>
            </a:pPr>
            <a:r>
              <a:rPr lang="en-US" sz="1250" b="1" dirty="0">
                <a:solidFill>
                  <a:srgbClr val="0A6E8A"/>
                </a:solidFill>
              </a:rPr>
              <a:t>No Searchability by Section</a:t>
            </a:r>
            <a:endParaRPr lang="en-US" sz="1250" dirty="0"/>
          </a:p>
        </p:txBody>
      </p:sp>
      <p:sp>
        <p:nvSpPr>
          <p:cNvPr id="22" name="Text 20"/>
          <p:cNvSpPr/>
          <p:nvPr/>
        </p:nvSpPr>
        <p:spPr>
          <a:xfrm>
            <a:off x="6199632" y="2450592"/>
            <a:ext cx="2286000" cy="2011680"/>
          </a:xfrm>
          <a:prstGeom prst="rect">
            <a:avLst/>
          </a:prstGeom>
          <a:noFill/>
          <a:ln/>
        </p:spPr>
        <p:txBody>
          <a:bodyPr wrap="square" lIns="0" tIns="0" rIns="0" bIns="0" rtlCol="0" anchor="ctr"/>
          <a:lstStyle/>
          <a:p>
            <a:pPr indent="0" marL="0">
              <a:buNone/>
            </a:pPr>
            <a:r>
              <a:rPr lang="en-US" sz="1050" dirty="0">
                <a:solidFill>
                  <a:srgbClr val="1B2E3C"/>
                </a:solidFill>
              </a:rPr>
              <a:t>Today, you cannot search PubMed for 'papers where the RESULTS mention mortality'. The data exists — but it's locked inside unstructured paragraphs.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OUR SOLUTION</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Automatically Label Every Sentence in a Medical Abstract</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   ·   Training data: ~180,000 labelled sentences from PubMed RCT abstracts</a:t>
            </a:r>
            <a:endParaRPr lang="en-US" sz="850" dirty="0"/>
          </a:p>
        </p:txBody>
      </p:sp>
      <p:sp>
        <p:nvSpPr>
          <p:cNvPr id="8" name="Shape 6"/>
          <p:cNvSpPr/>
          <p:nvPr/>
        </p:nvSpPr>
        <p:spPr>
          <a:xfrm>
            <a:off x="457200" y="1417320"/>
            <a:ext cx="2468880" cy="960120"/>
          </a:xfrm>
          <a:prstGeom prst="rect">
            <a:avLst/>
          </a:prstGeom>
          <a:solidFill>
            <a:srgbClr val="0A6E8A"/>
          </a:solidFill>
          <a:ln w="12700">
            <a:solidFill>
              <a:srgbClr val="0A6E8A"/>
            </a:solidFill>
            <a:prstDash val="solid"/>
          </a:ln>
        </p:spPr>
      </p:sp>
      <p:sp>
        <p:nvSpPr>
          <p:cNvPr id="9" name="Text 7"/>
          <p:cNvSpPr/>
          <p:nvPr/>
        </p:nvSpPr>
        <p:spPr>
          <a:xfrm>
            <a:off x="548640" y="1481328"/>
            <a:ext cx="2286000" cy="347472"/>
          </a:xfrm>
          <a:prstGeom prst="rect">
            <a:avLst/>
          </a:prstGeom>
          <a:noFill/>
          <a:ln/>
        </p:spPr>
        <p:txBody>
          <a:bodyPr wrap="square" lIns="0" tIns="0" rIns="0" bIns="0" rtlCol="0" anchor="ctr"/>
          <a:lstStyle/>
          <a:p>
            <a:pPr indent="0" marL="0">
              <a:buNone/>
            </a:pPr>
            <a:r>
              <a:rPr lang="en-US" sz="1300" b="1" dirty="0">
                <a:solidFill>
                  <a:srgbClr val="FFFFFF"/>
                </a:solidFill>
              </a:rPr>
              <a:t>Raw Abstract</a:t>
            </a:r>
            <a:endParaRPr lang="en-US" sz="1300" dirty="0"/>
          </a:p>
        </p:txBody>
      </p:sp>
      <p:sp>
        <p:nvSpPr>
          <p:cNvPr id="10" name="Text 8"/>
          <p:cNvSpPr/>
          <p:nvPr/>
        </p:nvSpPr>
        <p:spPr>
          <a:xfrm>
            <a:off x="548640" y="1801368"/>
            <a:ext cx="2286000" cy="512064"/>
          </a:xfrm>
          <a:prstGeom prst="rect">
            <a:avLst/>
          </a:prstGeom>
          <a:noFill/>
          <a:ln/>
        </p:spPr>
        <p:txBody>
          <a:bodyPr wrap="square" lIns="0" tIns="0" rIns="0" bIns="0" rtlCol="0" anchor="ctr"/>
          <a:lstStyle/>
          <a:p>
            <a:pPr indent="0" marL="0">
              <a:buNone/>
            </a:pPr>
            <a:r>
              <a:rPr lang="en-US" sz="950" dirty="0">
                <a:solidFill>
                  <a:srgbClr val="FFFFFF"/>
                </a:solidFill>
              </a:rPr>
              <a:t>Unstructured paragraph</a:t>
            </a:r>
            <a:endParaRPr lang="en-US" sz="950" dirty="0"/>
          </a:p>
          <a:p>
            <a:pPr indent="0" marL="0">
              <a:buNone/>
            </a:pPr>
            <a:r>
              <a:rPr lang="en-US" sz="950" dirty="0">
                <a:solidFill>
                  <a:srgbClr val="FFFFFF"/>
                </a:solidFill>
              </a:rPr>
              <a:t>of medical text</a:t>
            </a:r>
            <a:endParaRPr lang="en-US" sz="950" dirty="0"/>
          </a:p>
        </p:txBody>
      </p:sp>
      <p:sp>
        <p:nvSpPr>
          <p:cNvPr id="11" name="Shape 9"/>
          <p:cNvSpPr/>
          <p:nvPr/>
        </p:nvSpPr>
        <p:spPr>
          <a:xfrm>
            <a:off x="2907792" y="1719072"/>
            <a:ext cx="493776" cy="274320"/>
          </a:xfrm>
          <a:prstGeom prst="rect">
            <a:avLst/>
          </a:prstGeom>
          <a:solidFill>
            <a:srgbClr val="0D1F2D"/>
          </a:solidFill>
          <a:ln w="12700">
            <a:solidFill>
              <a:srgbClr val="0D1F2D"/>
            </a:solidFill>
            <a:prstDash val="solid"/>
          </a:ln>
        </p:spPr>
      </p:sp>
      <p:sp>
        <p:nvSpPr>
          <p:cNvPr id="12" name="Text 10"/>
          <p:cNvSpPr/>
          <p:nvPr/>
        </p:nvSpPr>
        <p:spPr>
          <a:xfrm>
            <a:off x="2880360" y="1682496"/>
            <a:ext cx="548640" cy="347472"/>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3" name="Shape 11"/>
          <p:cNvSpPr/>
          <p:nvPr/>
        </p:nvSpPr>
        <p:spPr>
          <a:xfrm>
            <a:off x="3383280" y="1417320"/>
            <a:ext cx="2468880" cy="960120"/>
          </a:xfrm>
          <a:prstGeom prst="rect">
            <a:avLst/>
          </a:prstGeom>
          <a:solidFill>
            <a:srgbClr val="F4A03A"/>
          </a:solidFill>
          <a:ln w="12700">
            <a:solidFill>
              <a:srgbClr val="F4A03A"/>
            </a:solidFill>
            <a:prstDash val="solid"/>
          </a:ln>
        </p:spPr>
      </p:sp>
      <p:sp>
        <p:nvSpPr>
          <p:cNvPr id="14" name="Text 12"/>
          <p:cNvSpPr/>
          <p:nvPr/>
        </p:nvSpPr>
        <p:spPr>
          <a:xfrm>
            <a:off x="3474720" y="1481328"/>
            <a:ext cx="2286000" cy="347472"/>
          </a:xfrm>
          <a:prstGeom prst="rect">
            <a:avLst/>
          </a:prstGeom>
          <a:noFill/>
          <a:ln/>
        </p:spPr>
        <p:txBody>
          <a:bodyPr wrap="square" lIns="0" tIns="0" rIns="0" bIns="0" rtlCol="0" anchor="ctr"/>
          <a:lstStyle/>
          <a:p>
            <a:pPr indent="0" marL="0">
              <a:buNone/>
            </a:pPr>
            <a:r>
              <a:rPr lang="en-US" sz="1300" b="1" dirty="0">
                <a:solidFill>
                  <a:srgbClr val="FFFFFF"/>
                </a:solidFill>
              </a:rPr>
              <a:t>AI Classifier</a:t>
            </a:r>
            <a:endParaRPr lang="en-US" sz="1300" dirty="0"/>
          </a:p>
        </p:txBody>
      </p:sp>
      <p:sp>
        <p:nvSpPr>
          <p:cNvPr id="15" name="Text 13"/>
          <p:cNvSpPr/>
          <p:nvPr/>
        </p:nvSpPr>
        <p:spPr>
          <a:xfrm>
            <a:off x="3474720" y="1801368"/>
            <a:ext cx="2286000" cy="512064"/>
          </a:xfrm>
          <a:prstGeom prst="rect">
            <a:avLst/>
          </a:prstGeom>
          <a:noFill/>
          <a:ln/>
        </p:spPr>
        <p:txBody>
          <a:bodyPr wrap="square" lIns="0" tIns="0" rIns="0" bIns="0" rtlCol="0" anchor="ctr"/>
          <a:lstStyle/>
          <a:p>
            <a:pPr indent="0" marL="0">
              <a:buNone/>
            </a:pPr>
            <a:r>
              <a:rPr lang="en-US" sz="950" dirty="0">
                <a:solidFill>
                  <a:srgbClr val="FFFFFF"/>
                </a:solidFill>
              </a:rPr>
              <a:t>Reads each sentence</a:t>
            </a:r>
            <a:endParaRPr lang="en-US" sz="950" dirty="0"/>
          </a:p>
          <a:p>
            <a:pPr indent="0" marL="0">
              <a:buNone/>
            </a:pPr>
            <a:r>
              <a:rPr lang="en-US" sz="950" dirty="0">
                <a:solidFill>
                  <a:srgbClr val="FFFFFF"/>
                </a:solidFill>
              </a:rPr>
              <a:t>and assigns a label</a:t>
            </a:r>
            <a:endParaRPr lang="en-US" sz="950" dirty="0"/>
          </a:p>
        </p:txBody>
      </p:sp>
      <p:sp>
        <p:nvSpPr>
          <p:cNvPr id="16" name="Shape 14"/>
          <p:cNvSpPr/>
          <p:nvPr/>
        </p:nvSpPr>
        <p:spPr>
          <a:xfrm>
            <a:off x="5833872" y="1719072"/>
            <a:ext cx="493776" cy="274320"/>
          </a:xfrm>
          <a:prstGeom prst="rect">
            <a:avLst/>
          </a:prstGeom>
          <a:solidFill>
            <a:srgbClr val="0D1F2D"/>
          </a:solidFill>
          <a:ln w="12700">
            <a:solidFill>
              <a:srgbClr val="0D1F2D"/>
            </a:solidFill>
            <a:prstDash val="solid"/>
          </a:ln>
        </p:spPr>
      </p:sp>
      <p:sp>
        <p:nvSpPr>
          <p:cNvPr id="17" name="Text 15"/>
          <p:cNvSpPr/>
          <p:nvPr/>
        </p:nvSpPr>
        <p:spPr>
          <a:xfrm>
            <a:off x="5806440" y="1682496"/>
            <a:ext cx="548640" cy="347472"/>
          </a:xfrm>
          <a:prstGeom prst="rect">
            <a:avLst/>
          </a:prstGeom>
          <a:noFill/>
          <a:ln/>
        </p:spPr>
        <p:txBody>
          <a:bodyPr wrap="square" lIns="0" tIns="0" rIns="0" bIns="0" rtlCol="0" anchor="ctr"/>
          <a:lstStyle/>
          <a:p>
            <a:pPr algn="ctr" indent="0" marL="0">
              <a:buNone/>
            </a:pPr>
            <a:r>
              <a:rPr lang="en-US" sz="2200" b="1" dirty="0">
                <a:solidFill>
                  <a:srgbClr val="FFFFFF"/>
                </a:solidFill>
              </a:rPr>
              <a:t>→</a:t>
            </a:r>
            <a:endParaRPr lang="en-US" sz="2200" dirty="0"/>
          </a:p>
        </p:txBody>
      </p:sp>
      <p:sp>
        <p:nvSpPr>
          <p:cNvPr id="18" name="Shape 16"/>
          <p:cNvSpPr/>
          <p:nvPr/>
        </p:nvSpPr>
        <p:spPr>
          <a:xfrm>
            <a:off x="6309360" y="1417320"/>
            <a:ext cx="2468880" cy="960120"/>
          </a:xfrm>
          <a:prstGeom prst="rect">
            <a:avLst/>
          </a:prstGeom>
          <a:solidFill>
            <a:srgbClr val="27A86E"/>
          </a:solidFill>
          <a:ln w="12700">
            <a:solidFill>
              <a:srgbClr val="27A86E"/>
            </a:solidFill>
            <a:prstDash val="solid"/>
          </a:ln>
        </p:spPr>
      </p:sp>
      <p:sp>
        <p:nvSpPr>
          <p:cNvPr id="19" name="Text 17"/>
          <p:cNvSpPr/>
          <p:nvPr/>
        </p:nvSpPr>
        <p:spPr>
          <a:xfrm>
            <a:off x="6400800" y="1481328"/>
            <a:ext cx="2286000" cy="347472"/>
          </a:xfrm>
          <a:prstGeom prst="rect">
            <a:avLst/>
          </a:prstGeom>
          <a:noFill/>
          <a:ln/>
        </p:spPr>
        <p:txBody>
          <a:bodyPr wrap="square" lIns="0" tIns="0" rIns="0" bIns="0" rtlCol="0" anchor="ctr"/>
          <a:lstStyle/>
          <a:p>
            <a:pPr indent="0" marL="0">
              <a:buNone/>
            </a:pPr>
            <a:r>
              <a:rPr lang="en-US" sz="1300" b="1" dirty="0">
                <a:solidFill>
                  <a:srgbClr val="FFFFFF"/>
                </a:solidFill>
              </a:rPr>
              <a:t>Structured Output</a:t>
            </a:r>
            <a:endParaRPr lang="en-US" sz="1300" dirty="0"/>
          </a:p>
        </p:txBody>
      </p:sp>
      <p:sp>
        <p:nvSpPr>
          <p:cNvPr id="20" name="Text 18"/>
          <p:cNvSpPr/>
          <p:nvPr/>
        </p:nvSpPr>
        <p:spPr>
          <a:xfrm>
            <a:off x="6400800" y="1801368"/>
            <a:ext cx="2286000" cy="512064"/>
          </a:xfrm>
          <a:prstGeom prst="rect">
            <a:avLst/>
          </a:prstGeom>
          <a:noFill/>
          <a:ln/>
        </p:spPr>
        <p:txBody>
          <a:bodyPr wrap="square" lIns="0" tIns="0" rIns="0" bIns="0" rtlCol="0" anchor="ctr"/>
          <a:lstStyle/>
          <a:p>
            <a:pPr indent="0" marL="0">
              <a:buNone/>
            </a:pPr>
            <a:r>
              <a:rPr lang="en-US" sz="950" dirty="0">
                <a:solidFill>
                  <a:srgbClr val="FFFFFF"/>
                </a:solidFill>
              </a:rPr>
              <a:t>Every sentence tagged</a:t>
            </a:r>
            <a:endParaRPr lang="en-US" sz="950" dirty="0"/>
          </a:p>
          <a:p>
            <a:pPr indent="0" marL="0">
              <a:buNone/>
            </a:pPr>
            <a:r>
              <a:rPr lang="en-US" sz="950" dirty="0">
                <a:solidFill>
                  <a:srgbClr val="FFFFFF"/>
                </a:solidFill>
              </a:rPr>
              <a:t>with its role</a:t>
            </a:r>
            <a:endParaRPr lang="en-US" sz="950" dirty="0"/>
          </a:p>
        </p:txBody>
      </p:sp>
      <p:sp>
        <p:nvSpPr>
          <p:cNvPr id="21" name="Text 19"/>
          <p:cNvSpPr/>
          <p:nvPr/>
        </p:nvSpPr>
        <p:spPr>
          <a:xfrm>
            <a:off x="457200" y="2606040"/>
            <a:ext cx="8229600" cy="292608"/>
          </a:xfrm>
          <a:prstGeom prst="rect">
            <a:avLst/>
          </a:prstGeom>
          <a:noFill/>
          <a:ln/>
        </p:spPr>
        <p:txBody>
          <a:bodyPr wrap="square" lIns="0" tIns="0" rIns="0" bIns="0" rtlCol="0" anchor="ctr"/>
          <a:lstStyle/>
          <a:p>
            <a:pPr indent="0" marL="0">
              <a:buNone/>
            </a:pPr>
            <a:r>
              <a:rPr lang="en-US" sz="1150" b="1" dirty="0">
                <a:solidFill>
                  <a:srgbClr val="0A6E8A"/>
                </a:solidFill>
              </a:rPr>
              <a:t>The 5 sentence labels our model assigns:</a:t>
            </a:r>
            <a:endParaRPr lang="en-US" sz="1150" dirty="0"/>
          </a:p>
        </p:txBody>
      </p:sp>
      <p:sp>
        <p:nvSpPr>
          <p:cNvPr id="22" name="Shape 20"/>
          <p:cNvSpPr/>
          <p:nvPr/>
        </p:nvSpPr>
        <p:spPr>
          <a:xfrm>
            <a:off x="347472" y="2971800"/>
            <a:ext cx="1554480" cy="16916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23" name="Shape 21"/>
          <p:cNvSpPr/>
          <p:nvPr/>
        </p:nvSpPr>
        <p:spPr>
          <a:xfrm>
            <a:off x="347472" y="2971800"/>
            <a:ext cx="1554480" cy="310896"/>
          </a:xfrm>
          <a:prstGeom prst="rect">
            <a:avLst/>
          </a:prstGeom>
          <a:solidFill>
            <a:srgbClr val="2367B2"/>
          </a:solidFill>
          <a:ln w="12700">
            <a:solidFill>
              <a:srgbClr val="2367B2"/>
            </a:solidFill>
            <a:prstDash val="solid"/>
          </a:ln>
        </p:spPr>
      </p:sp>
      <p:sp>
        <p:nvSpPr>
          <p:cNvPr id="24" name="Text 22"/>
          <p:cNvSpPr/>
          <p:nvPr/>
        </p:nvSpPr>
        <p:spPr>
          <a:xfrm>
            <a:off x="393192" y="2990088"/>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BACKGROUND</a:t>
            </a:r>
            <a:endParaRPr lang="en-US" sz="800" dirty="0"/>
          </a:p>
        </p:txBody>
      </p:sp>
      <p:sp>
        <p:nvSpPr>
          <p:cNvPr id="25" name="Text 23"/>
          <p:cNvSpPr/>
          <p:nvPr/>
        </p:nvSpPr>
        <p:spPr>
          <a:xfrm>
            <a:off x="420624" y="3346704"/>
            <a:ext cx="1417320" cy="1188720"/>
          </a:xfrm>
          <a:prstGeom prst="rect">
            <a:avLst/>
          </a:prstGeom>
          <a:noFill/>
          <a:ln/>
        </p:spPr>
        <p:txBody>
          <a:bodyPr wrap="square" lIns="0" tIns="0" rIns="0" bIns="0" rtlCol="0" anchor="ctr"/>
          <a:lstStyle/>
          <a:p>
            <a:pPr indent="0" marL="0">
              <a:buNone/>
            </a:pPr>
            <a:r>
              <a:rPr lang="en-US" sz="1000" dirty="0">
                <a:solidFill>
                  <a:srgbClr val="1B2E3C"/>
                </a:solidFill>
              </a:rPr>
              <a:t>Context &amp; prior work</a:t>
            </a:r>
            <a:endParaRPr lang="en-US" sz="1000" dirty="0"/>
          </a:p>
        </p:txBody>
      </p:sp>
      <p:sp>
        <p:nvSpPr>
          <p:cNvPr id="26" name="Shape 24"/>
          <p:cNvSpPr/>
          <p:nvPr/>
        </p:nvSpPr>
        <p:spPr>
          <a:xfrm>
            <a:off x="2039112" y="2971800"/>
            <a:ext cx="1554480" cy="16916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27" name="Shape 25"/>
          <p:cNvSpPr/>
          <p:nvPr/>
        </p:nvSpPr>
        <p:spPr>
          <a:xfrm>
            <a:off x="2039112" y="2971800"/>
            <a:ext cx="1554480" cy="310896"/>
          </a:xfrm>
          <a:prstGeom prst="rect">
            <a:avLst/>
          </a:prstGeom>
          <a:solidFill>
            <a:srgbClr val="27A86E"/>
          </a:solidFill>
          <a:ln w="12700">
            <a:solidFill>
              <a:srgbClr val="27A86E"/>
            </a:solidFill>
            <a:prstDash val="solid"/>
          </a:ln>
        </p:spPr>
      </p:sp>
      <p:sp>
        <p:nvSpPr>
          <p:cNvPr id="28" name="Text 26"/>
          <p:cNvSpPr/>
          <p:nvPr/>
        </p:nvSpPr>
        <p:spPr>
          <a:xfrm>
            <a:off x="2084832" y="2990088"/>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OBJECTIVE</a:t>
            </a:r>
            <a:endParaRPr lang="en-US" sz="800" dirty="0"/>
          </a:p>
        </p:txBody>
      </p:sp>
      <p:sp>
        <p:nvSpPr>
          <p:cNvPr id="29" name="Text 27"/>
          <p:cNvSpPr/>
          <p:nvPr/>
        </p:nvSpPr>
        <p:spPr>
          <a:xfrm>
            <a:off x="2112264" y="3346704"/>
            <a:ext cx="1417320" cy="1188720"/>
          </a:xfrm>
          <a:prstGeom prst="rect">
            <a:avLst/>
          </a:prstGeom>
          <a:noFill/>
          <a:ln/>
        </p:spPr>
        <p:txBody>
          <a:bodyPr wrap="square" lIns="0" tIns="0" rIns="0" bIns="0" rtlCol="0" anchor="ctr"/>
          <a:lstStyle/>
          <a:p>
            <a:pPr indent="0" marL="0">
              <a:buNone/>
            </a:pPr>
            <a:r>
              <a:rPr lang="en-US" sz="1000" dirty="0">
                <a:solidFill>
                  <a:srgbClr val="1B2E3C"/>
                </a:solidFill>
              </a:rPr>
              <a:t>Study aim</a:t>
            </a:r>
            <a:endParaRPr lang="en-US" sz="1000" dirty="0"/>
          </a:p>
        </p:txBody>
      </p:sp>
      <p:sp>
        <p:nvSpPr>
          <p:cNvPr id="30" name="Shape 28"/>
          <p:cNvSpPr/>
          <p:nvPr/>
        </p:nvSpPr>
        <p:spPr>
          <a:xfrm>
            <a:off x="3730752" y="2971800"/>
            <a:ext cx="1554480" cy="16916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31" name="Shape 29"/>
          <p:cNvSpPr/>
          <p:nvPr/>
        </p:nvSpPr>
        <p:spPr>
          <a:xfrm>
            <a:off x="3730752" y="2971800"/>
            <a:ext cx="1554480" cy="310896"/>
          </a:xfrm>
          <a:prstGeom prst="rect">
            <a:avLst/>
          </a:prstGeom>
          <a:solidFill>
            <a:srgbClr val="E07B00"/>
          </a:solidFill>
          <a:ln w="12700">
            <a:solidFill>
              <a:srgbClr val="E07B00"/>
            </a:solidFill>
            <a:prstDash val="solid"/>
          </a:ln>
        </p:spPr>
      </p:sp>
      <p:sp>
        <p:nvSpPr>
          <p:cNvPr id="32" name="Text 30"/>
          <p:cNvSpPr/>
          <p:nvPr/>
        </p:nvSpPr>
        <p:spPr>
          <a:xfrm>
            <a:off x="3776472" y="2990088"/>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METHODS</a:t>
            </a:r>
            <a:endParaRPr lang="en-US" sz="800" dirty="0"/>
          </a:p>
        </p:txBody>
      </p:sp>
      <p:sp>
        <p:nvSpPr>
          <p:cNvPr id="33" name="Text 31"/>
          <p:cNvSpPr/>
          <p:nvPr/>
        </p:nvSpPr>
        <p:spPr>
          <a:xfrm>
            <a:off x="3803904" y="3346704"/>
            <a:ext cx="1417320" cy="1188720"/>
          </a:xfrm>
          <a:prstGeom prst="rect">
            <a:avLst/>
          </a:prstGeom>
          <a:noFill/>
          <a:ln/>
        </p:spPr>
        <p:txBody>
          <a:bodyPr wrap="square" lIns="0" tIns="0" rIns="0" bIns="0" rtlCol="0" anchor="ctr"/>
          <a:lstStyle/>
          <a:p>
            <a:pPr indent="0" marL="0">
              <a:buNone/>
            </a:pPr>
            <a:r>
              <a:rPr lang="en-US" sz="1000" dirty="0">
                <a:solidFill>
                  <a:srgbClr val="1B2E3C"/>
                </a:solidFill>
              </a:rPr>
              <a:t>How it was done</a:t>
            </a:r>
            <a:endParaRPr lang="en-US" sz="1000" dirty="0"/>
          </a:p>
        </p:txBody>
      </p:sp>
      <p:sp>
        <p:nvSpPr>
          <p:cNvPr id="34" name="Shape 32"/>
          <p:cNvSpPr/>
          <p:nvPr/>
        </p:nvSpPr>
        <p:spPr>
          <a:xfrm>
            <a:off x="5422392" y="2971800"/>
            <a:ext cx="1554480" cy="16916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35" name="Shape 33"/>
          <p:cNvSpPr/>
          <p:nvPr/>
        </p:nvSpPr>
        <p:spPr>
          <a:xfrm>
            <a:off x="5422392" y="2971800"/>
            <a:ext cx="1554480" cy="310896"/>
          </a:xfrm>
          <a:prstGeom prst="rect">
            <a:avLst/>
          </a:prstGeom>
          <a:solidFill>
            <a:srgbClr val="7B3FA0"/>
          </a:solidFill>
          <a:ln w="12700">
            <a:solidFill>
              <a:srgbClr val="7B3FA0"/>
            </a:solidFill>
            <a:prstDash val="solid"/>
          </a:ln>
        </p:spPr>
      </p:sp>
      <p:sp>
        <p:nvSpPr>
          <p:cNvPr id="36" name="Text 34"/>
          <p:cNvSpPr/>
          <p:nvPr/>
        </p:nvSpPr>
        <p:spPr>
          <a:xfrm>
            <a:off x="5468112" y="2990088"/>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RESULTS</a:t>
            </a:r>
            <a:endParaRPr lang="en-US" sz="800" dirty="0"/>
          </a:p>
        </p:txBody>
      </p:sp>
      <p:sp>
        <p:nvSpPr>
          <p:cNvPr id="37" name="Text 35"/>
          <p:cNvSpPr/>
          <p:nvPr/>
        </p:nvSpPr>
        <p:spPr>
          <a:xfrm>
            <a:off x="5495544" y="3346704"/>
            <a:ext cx="1417320" cy="1188720"/>
          </a:xfrm>
          <a:prstGeom prst="rect">
            <a:avLst/>
          </a:prstGeom>
          <a:noFill/>
          <a:ln/>
        </p:spPr>
        <p:txBody>
          <a:bodyPr wrap="square" lIns="0" tIns="0" rIns="0" bIns="0" rtlCol="0" anchor="ctr"/>
          <a:lstStyle/>
          <a:p>
            <a:pPr indent="0" marL="0">
              <a:buNone/>
            </a:pPr>
            <a:r>
              <a:rPr lang="en-US" sz="1000" dirty="0">
                <a:solidFill>
                  <a:srgbClr val="1B2E3C"/>
                </a:solidFill>
              </a:rPr>
              <a:t>What was found</a:t>
            </a:r>
            <a:endParaRPr lang="en-US" sz="1000" dirty="0"/>
          </a:p>
        </p:txBody>
      </p:sp>
      <p:sp>
        <p:nvSpPr>
          <p:cNvPr id="38" name="Shape 36"/>
          <p:cNvSpPr/>
          <p:nvPr/>
        </p:nvSpPr>
        <p:spPr>
          <a:xfrm>
            <a:off x="7114032" y="2971800"/>
            <a:ext cx="1554480" cy="16916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39" name="Shape 37"/>
          <p:cNvSpPr/>
          <p:nvPr/>
        </p:nvSpPr>
        <p:spPr>
          <a:xfrm>
            <a:off x="7114032" y="2971800"/>
            <a:ext cx="1554480" cy="310896"/>
          </a:xfrm>
          <a:prstGeom prst="rect">
            <a:avLst/>
          </a:prstGeom>
          <a:solidFill>
            <a:srgbClr val="C0392B"/>
          </a:solidFill>
          <a:ln w="12700">
            <a:solidFill>
              <a:srgbClr val="C0392B"/>
            </a:solidFill>
            <a:prstDash val="solid"/>
          </a:ln>
        </p:spPr>
      </p:sp>
      <p:sp>
        <p:nvSpPr>
          <p:cNvPr id="40" name="Text 38"/>
          <p:cNvSpPr/>
          <p:nvPr/>
        </p:nvSpPr>
        <p:spPr>
          <a:xfrm>
            <a:off x="7159752" y="2990088"/>
            <a:ext cx="1463040" cy="274320"/>
          </a:xfrm>
          <a:prstGeom prst="rect">
            <a:avLst/>
          </a:prstGeom>
          <a:noFill/>
          <a:ln/>
        </p:spPr>
        <p:txBody>
          <a:bodyPr wrap="square" lIns="0" tIns="0" rIns="0" bIns="0" rtlCol="0" anchor="ctr"/>
          <a:lstStyle/>
          <a:p>
            <a:pPr algn="ctr" indent="0" marL="0">
              <a:buNone/>
            </a:pPr>
            <a:r>
              <a:rPr lang="en-US" sz="800" b="1" dirty="0">
                <a:solidFill>
                  <a:srgbClr val="FFFFFF"/>
                </a:solidFill>
              </a:rPr>
              <a:t>CONCLUSIONS</a:t>
            </a:r>
            <a:endParaRPr lang="en-US" sz="800" dirty="0"/>
          </a:p>
        </p:txBody>
      </p:sp>
      <p:sp>
        <p:nvSpPr>
          <p:cNvPr id="41" name="Text 39"/>
          <p:cNvSpPr/>
          <p:nvPr/>
        </p:nvSpPr>
        <p:spPr>
          <a:xfrm>
            <a:off x="7187184" y="3346704"/>
            <a:ext cx="1417320" cy="1188720"/>
          </a:xfrm>
          <a:prstGeom prst="rect">
            <a:avLst/>
          </a:prstGeom>
          <a:noFill/>
          <a:ln/>
        </p:spPr>
        <p:txBody>
          <a:bodyPr wrap="square" lIns="0" tIns="0" rIns="0" bIns="0" rtlCol="0" anchor="ctr"/>
          <a:lstStyle/>
          <a:p>
            <a:pPr indent="0" marL="0">
              <a:buNone/>
            </a:pPr>
            <a:r>
              <a:rPr lang="en-US" sz="1000" dirty="0">
                <a:solidFill>
                  <a:srgbClr val="1B2E3C"/>
                </a:solidFill>
              </a:rPr>
              <a:t>What it means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SEE IT IN ACTION</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Before &amp; After — The Same Abstract, Transformed</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   ·   Model 4: BERT  ·  ~90% accuracy</a:t>
            </a:r>
            <a:endParaRPr lang="en-US" sz="850" dirty="0"/>
          </a:p>
        </p:txBody>
      </p:sp>
      <p:sp>
        <p:nvSpPr>
          <p:cNvPr id="8" name="Shape 6"/>
          <p:cNvSpPr/>
          <p:nvPr/>
        </p:nvSpPr>
        <p:spPr>
          <a:xfrm>
            <a:off x="347472" y="1389888"/>
            <a:ext cx="3840480" cy="32918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47472" y="1389888"/>
            <a:ext cx="3840480" cy="329184"/>
          </a:xfrm>
          <a:prstGeom prst="rect">
            <a:avLst/>
          </a:prstGeom>
          <a:solidFill>
            <a:srgbClr val="D94F4F"/>
          </a:solidFill>
          <a:ln w="12700">
            <a:solidFill>
              <a:srgbClr val="D94F4F"/>
            </a:solidFill>
            <a:prstDash val="solid"/>
          </a:ln>
        </p:spPr>
      </p:sp>
      <p:sp>
        <p:nvSpPr>
          <p:cNvPr id="10" name="Text 8"/>
          <p:cNvSpPr/>
          <p:nvPr/>
        </p:nvSpPr>
        <p:spPr>
          <a:xfrm>
            <a:off x="438912" y="1408176"/>
            <a:ext cx="3657600" cy="274320"/>
          </a:xfrm>
          <a:prstGeom prst="rect">
            <a:avLst/>
          </a:prstGeom>
          <a:noFill/>
          <a:ln/>
        </p:spPr>
        <p:txBody>
          <a:bodyPr wrap="square" lIns="0" tIns="0" rIns="0" bIns="0" rtlCol="0" anchor="ctr"/>
          <a:lstStyle/>
          <a:p>
            <a:pPr indent="0" marL="0">
              <a:buNone/>
            </a:pPr>
            <a:r>
              <a:rPr lang="en-US" sz="1000" b="1" dirty="0">
                <a:solidFill>
                  <a:srgbClr val="FFFFFF"/>
                </a:solidFill>
              </a:rPr>
              <a:t>❌  BEFORE — Harder to Read</a:t>
            </a:r>
            <a:endParaRPr lang="en-US" sz="1000" dirty="0"/>
          </a:p>
        </p:txBody>
      </p:sp>
      <p:sp>
        <p:nvSpPr>
          <p:cNvPr id="11" name="Text 9"/>
          <p:cNvSpPr/>
          <p:nvPr/>
        </p:nvSpPr>
        <p:spPr>
          <a:xfrm>
            <a:off x="475488" y="1792224"/>
            <a:ext cx="3584448" cy="2834640"/>
          </a:xfrm>
          <a:prstGeom prst="rect">
            <a:avLst/>
          </a:prstGeom>
          <a:noFill/>
          <a:ln/>
        </p:spPr>
        <p:txBody>
          <a:bodyPr wrap="square" lIns="0" tIns="0" rIns="0" bIns="0" rtlCol="0" anchor="ctr"/>
          <a:lstStyle/>
          <a:p>
            <a:pPr indent="0" marL="0">
              <a:buNone/>
            </a:pPr>
            <a:r>
              <a:rPr lang="en-US" sz="950" dirty="0">
                <a:solidFill>
                  <a:srgbClr val="1B2E3C"/>
                </a:solidFill>
              </a:rPr>
              <a:t>To investigate the efficacy of several weeks of daily low-dose oral prednisolone in improving pain, mobility, and systemic low-grade inflammation in the short term. A total of a specified number of patients with primary knee OA were randomized into two groups. Outcome measures included pain reduction and improvement in function scores. Pain was assessed using the visual analog pain scale. There was a clinically relevant reduction in the intervention group for knee pain and physical function.</a:t>
            </a:r>
            <a:endParaRPr lang="en-US" sz="950" dirty="0"/>
          </a:p>
        </p:txBody>
      </p:sp>
      <p:sp>
        <p:nvSpPr>
          <p:cNvPr id="12" name="Shape 10"/>
          <p:cNvSpPr/>
          <p:nvPr/>
        </p:nvSpPr>
        <p:spPr>
          <a:xfrm>
            <a:off x="4297680" y="2834640"/>
            <a:ext cx="548640" cy="365760"/>
          </a:xfrm>
          <a:prstGeom prst="rect">
            <a:avLst/>
          </a:prstGeom>
          <a:solidFill>
            <a:srgbClr val="F4A03A"/>
          </a:solidFill>
          <a:ln w="12700">
            <a:solidFill>
              <a:srgbClr val="F4A03A"/>
            </a:solidFill>
            <a:prstDash val="solid"/>
          </a:ln>
        </p:spPr>
      </p:sp>
      <p:sp>
        <p:nvSpPr>
          <p:cNvPr id="13" name="Text 11"/>
          <p:cNvSpPr/>
          <p:nvPr/>
        </p:nvSpPr>
        <p:spPr>
          <a:xfrm>
            <a:off x="4261104" y="2788920"/>
            <a:ext cx="621792" cy="457200"/>
          </a:xfrm>
          <a:prstGeom prst="rect">
            <a:avLst/>
          </a:prstGeom>
          <a:noFill/>
          <a:ln/>
        </p:spPr>
        <p:txBody>
          <a:bodyPr wrap="square" lIns="0" tIns="0" rIns="0" bIns="0" rtlCol="0" anchor="ctr"/>
          <a:lstStyle/>
          <a:p>
            <a:pPr algn="ctr" indent="0" marL="0">
              <a:buNone/>
            </a:pPr>
            <a:r>
              <a:rPr lang="en-US" sz="2400" b="1" dirty="0">
                <a:solidFill>
                  <a:srgbClr val="FFFFFF"/>
                </a:solidFill>
              </a:rPr>
              <a:t>→</a:t>
            </a:r>
            <a:endParaRPr lang="en-US" sz="2400" dirty="0"/>
          </a:p>
        </p:txBody>
      </p:sp>
      <p:sp>
        <p:nvSpPr>
          <p:cNvPr id="14" name="Text 12"/>
          <p:cNvSpPr/>
          <p:nvPr/>
        </p:nvSpPr>
        <p:spPr>
          <a:xfrm>
            <a:off x="4270248" y="3246120"/>
            <a:ext cx="603504" cy="411480"/>
          </a:xfrm>
          <a:prstGeom prst="rect">
            <a:avLst/>
          </a:prstGeom>
          <a:noFill/>
          <a:ln/>
        </p:spPr>
        <p:txBody>
          <a:bodyPr wrap="square" lIns="0" tIns="0" rIns="0" bIns="0" rtlCol="0" anchor="ctr"/>
          <a:lstStyle/>
          <a:p>
            <a:pPr algn="ctr" indent="0" marL="0">
              <a:buNone/>
            </a:pPr>
            <a:r>
              <a:rPr lang="en-US" sz="800" b="1" dirty="0">
                <a:solidFill>
                  <a:srgbClr val="0A6E8A"/>
                </a:solidFill>
              </a:rPr>
              <a:t>AI</a:t>
            </a:r>
            <a:endParaRPr lang="en-US" sz="800" dirty="0"/>
          </a:p>
          <a:p>
            <a:pPr algn="ctr" indent="0" marL="0">
              <a:buNone/>
            </a:pPr>
            <a:r>
              <a:rPr lang="en-US" sz="800" b="1" dirty="0">
                <a:solidFill>
                  <a:srgbClr val="0A6E8A"/>
                </a:solidFill>
              </a:rPr>
              <a:t>Model</a:t>
            </a:r>
            <a:endParaRPr lang="en-US" sz="800" dirty="0"/>
          </a:p>
        </p:txBody>
      </p:sp>
      <p:sp>
        <p:nvSpPr>
          <p:cNvPr id="15" name="Shape 13"/>
          <p:cNvSpPr/>
          <p:nvPr/>
        </p:nvSpPr>
        <p:spPr>
          <a:xfrm>
            <a:off x="4956048" y="1389888"/>
            <a:ext cx="3840480" cy="329184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16" name="Shape 14"/>
          <p:cNvSpPr/>
          <p:nvPr/>
        </p:nvSpPr>
        <p:spPr>
          <a:xfrm>
            <a:off x="4956048" y="1389888"/>
            <a:ext cx="3840480" cy="329184"/>
          </a:xfrm>
          <a:prstGeom prst="rect">
            <a:avLst/>
          </a:prstGeom>
          <a:solidFill>
            <a:srgbClr val="27A86E"/>
          </a:solidFill>
          <a:ln w="12700">
            <a:solidFill>
              <a:srgbClr val="27A86E"/>
            </a:solidFill>
            <a:prstDash val="solid"/>
          </a:ln>
        </p:spPr>
      </p:sp>
      <p:sp>
        <p:nvSpPr>
          <p:cNvPr id="17" name="Text 15"/>
          <p:cNvSpPr/>
          <p:nvPr/>
        </p:nvSpPr>
        <p:spPr>
          <a:xfrm>
            <a:off x="5047488" y="1408176"/>
            <a:ext cx="3657600" cy="274320"/>
          </a:xfrm>
          <a:prstGeom prst="rect">
            <a:avLst/>
          </a:prstGeom>
          <a:noFill/>
          <a:ln/>
        </p:spPr>
        <p:txBody>
          <a:bodyPr wrap="square" lIns="0" tIns="0" rIns="0" bIns="0" rtlCol="0" anchor="ctr"/>
          <a:lstStyle/>
          <a:p>
            <a:pPr indent="0" marL="0">
              <a:buNone/>
            </a:pPr>
            <a:r>
              <a:rPr lang="en-US" sz="1000" b="1" dirty="0">
                <a:solidFill>
                  <a:srgbClr val="FFFFFF"/>
                </a:solidFill>
              </a:rPr>
              <a:t>✅  AFTER — Easier to Read</a:t>
            </a:r>
            <a:endParaRPr lang="en-US" sz="1000" dirty="0"/>
          </a:p>
        </p:txBody>
      </p:sp>
      <p:sp>
        <p:nvSpPr>
          <p:cNvPr id="18" name="Shape 16"/>
          <p:cNvSpPr/>
          <p:nvPr/>
        </p:nvSpPr>
        <p:spPr>
          <a:xfrm>
            <a:off x="5047488" y="1801368"/>
            <a:ext cx="960120" cy="237744"/>
          </a:xfrm>
          <a:prstGeom prst="rect">
            <a:avLst/>
          </a:prstGeom>
          <a:solidFill>
            <a:srgbClr val="27A86E"/>
          </a:solidFill>
          <a:ln w="12700">
            <a:solidFill>
              <a:srgbClr val="27A86E"/>
            </a:solidFill>
            <a:prstDash val="solid"/>
          </a:ln>
        </p:spPr>
      </p:sp>
      <p:sp>
        <p:nvSpPr>
          <p:cNvPr id="19" name="Text 17"/>
          <p:cNvSpPr/>
          <p:nvPr/>
        </p:nvSpPr>
        <p:spPr>
          <a:xfrm>
            <a:off x="5047488" y="1819656"/>
            <a:ext cx="960120" cy="201168"/>
          </a:xfrm>
          <a:prstGeom prst="rect">
            <a:avLst/>
          </a:prstGeom>
          <a:noFill/>
          <a:ln/>
        </p:spPr>
        <p:txBody>
          <a:bodyPr wrap="square" lIns="0" tIns="0" rIns="0" bIns="0" rtlCol="0" anchor="ctr"/>
          <a:lstStyle/>
          <a:p>
            <a:pPr algn="ctr" indent="0" marL="0">
              <a:buNone/>
            </a:pPr>
            <a:r>
              <a:rPr lang="en-US" sz="700" b="1" dirty="0">
                <a:solidFill>
                  <a:srgbClr val="FFFFFF"/>
                </a:solidFill>
              </a:rPr>
              <a:t>OBJECTIVE</a:t>
            </a:r>
            <a:endParaRPr lang="en-US" sz="700" dirty="0"/>
          </a:p>
        </p:txBody>
      </p:sp>
      <p:sp>
        <p:nvSpPr>
          <p:cNvPr id="20" name="Text 18"/>
          <p:cNvSpPr/>
          <p:nvPr/>
        </p:nvSpPr>
        <p:spPr>
          <a:xfrm>
            <a:off x="6053328" y="1819656"/>
            <a:ext cx="2633472" cy="438912"/>
          </a:xfrm>
          <a:prstGeom prst="rect">
            <a:avLst/>
          </a:prstGeom>
          <a:noFill/>
          <a:ln/>
        </p:spPr>
        <p:txBody>
          <a:bodyPr wrap="square" lIns="0" tIns="0" rIns="0" bIns="0" rtlCol="0" anchor="ctr"/>
          <a:lstStyle/>
          <a:p>
            <a:pPr indent="0" marL="0">
              <a:buNone/>
            </a:pPr>
            <a:r>
              <a:rPr lang="en-US" sz="900" dirty="0">
                <a:solidFill>
                  <a:srgbClr val="1B2E3C"/>
                </a:solidFill>
              </a:rPr>
              <a:t>To investigate the efficacy of low-dose oral prednisolone in improving pain, mobility and inflammation.</a:t>
            </a:r>
            <a:endParaRPr lang="en-US" sz="900" dirty="0"/>
          </a:p>
        </p:txBody>
      </p:sp>
      <p:sp>
        <p:nvSpPr>
          <p:cNvPr id="21" name="Shape 19"/>
          <p:cNvSpPr/>
          <p:nvPr/>
        </p:nvSpPr>
        <p:spPr>
          <a:xfrm>
            <a:off x="5047488" y="2368296"/>
            <a:ext cx="960120" cy="237744"/>
          </a:xfrm>
          <a:prstGeom prst="rect">
            <a:avLst/>
          </a:prstGeom>
          <a:solidFill>
            <a:srgbClr val="E07B00"/>
          </a:solidFill>
          <a:ln w="12700">
            <a:solidFill>
              <a:srgbClr val="E07B00"/>
            </a:solidFill>
            <a:prstDash val="solid"/>
          </a:ln>
        </p:spPr>
      </p:sp>
      <p:sp>
        <p:nvSpPr>
          <p:cNvPr id="22" name="Text 20"/>
          <p:cNvSpPr/>
          <p:nvPr/>
        </p:nvSpPr>
        <p:spPr>
          <a:xfrm>
            <a:off x="5047488" y="2386584"/>
            <a:ext cx="960120" cy="201168"/>
          </a:xfrm>
          <a:prstGeom prst="rect">
            <a:avLst/>
          </a:prstGeom>
          <a:noFill/>
          <a:ln/>
        </p:spPr>
        <p:txBody>
          <a:bodyPr wrap="square" lIns="0" tIns="0" rIns="0" bIns="0" rtlCol="0" anchor="ctr"/>
          <a:lstStyle/>
          <a:p>
            <a:pPr algn="ctr" indent="0" marL="0">
              <a:buNone/>
            </a:pPr>
            <a:r>
              <a:rPr lang="en-US" sz="700" b="1" dirty="0">
                <a:solidFill>
                  <a:srgbClr val="FFFFFF"/>
                </a:solidFill>
              </a:rPr>
              <a:t>METHODS</a:t>
            </a:r>
            <a:endParaRPr lang="en-US" sz="700" dirty="0"/>
          </a:p>
        </p:txBody>
      </p:sp>
      <p:sp>
        <p:nvSpPr>
          <p:cNvPr id="23" name="Text 21"/>
          <p:cNvSpPr/>
          <p:nvPr/>
        </p:nvSpPr>
        <p:spPr>
          <a:xfrm>
            <a:off x="6053328" y="2386584"/>
            <a:ext cx="2633472" cy="438912"/>
          </a:xfrm>
          <a:prstGeom prst="rect">
            <a:avLst/>
          </a:prstGeom>
          <a:noFill/>
          <a:ln/>
        </p:spPr>
        <p:txBody>
          <a:bodyPr wrap="square" lIns="0" tIns="0" rIns="0" bIns="0" rtlCol="0" anchor="ctr"/>
          <a:lstStyle/>
          <a:p>
            <a:pPr indent="0" marL="0">
              <a:buNone/>
            </a:pPr>
            <a:r>
              <a:rPr lang="en-US" sz="900" dirty="0">
                <a:solidFill>
                  <a:srgbClr val="1B2E3C"/>
                </a:solidFill>
              </a:rPr>
              <a:t>Patients with primary knee OA randomized into two groups; prednisolone vs placebo.</a:t>
            </a:r>
            <a:endParaRPr lang="en-US" sz="900" dirty="0"/>
          </a:p>
        </p:txBody>
      </p:sp>
      <p:sp>
        <p:nvSpPr>
          <p:cNvPr id="24" name="Shape 22"/>
          <p:cNvSpPr/>
          <p:nvPr/>
        </p:nvSpPr>
        <p:spPr>
          <a:xfrm>
            <a:off x="5047488" y="2935224"/>
            <a:ext cx="960120" cy="237744"/>
          </a:xfrm>
          <a:prstGeom prst="rect">
            <a:avLst/>
          </a:prstGeom>
          <a:solidFill>
            <a:srgbClr val="E07B00"/>
          </a:solidFill>
          <a:ln w="12700">
            <a:solidFill>
              <a:srgbClr val="E07B00"/>
            </a:solidFill>
            <a:prstDash val="solid"/>
          </a:ln>
        </p:spPr>
      </p:sp>
      <p:sp>
        <p:nvSpPr>
          <p:cNvPr id="25" name="Text 23"/>
          <p:cNvSpPr/>
          <p:nvPr/>
        </p:nvSpPr>
        <p:spPr>
          <a:xfrm>
            <a:off x="5047488" y="2953512"/>
            <a:ext cx="960120" cy="201168"/>
          </a:xfrm>
          <a:prstGeom prst="rect">
            <a:avLst/>
          </a:prstGeom>
          <a:noFill/>
          <a:ln/>
        </p:spPr>
        <p:txBody>
          <a:bodyPr wrap="square" lIns="0" tIns="0" rIns="0" bIns="0" rtlCol="0" anchor="ctr"/>
          <a:lstStyle/>
          <a:p>
            <a:pPr algn="ctr" indent="0" marL="0">
              <a:buNone/>
            </a:pPr>
            <a:r>
              <a:rPr lang="en-US" sz="700" b="1" dirty="0">
                <a:solidFill>
                  <a:srgbClr val="FFFFFF"/>
                </a:solidFill>
              </a:rPr>
              <a:t>METHODS</a:t>
            </a:r>
            <a:endParaRPr lang="en-US" sz="700" dirty="0"/>
          </a:p>
        </p:txBody>
      </p:sp>
      <p:sp>
        <p:nvSpPr>
          <p:cNvPr id="26" name="Text 24"/>
          <p:cNvSpPr/>
          <p:nvPr/>
        </p:nvSpPr>
        <p:spPr>
          <a:xfrm>
            <a:off x="6053328" y="2953512"/>
            <a:ext cx="2633472" cy="438912"/>
          </a:xfrm>
          <a:prstGeom prst="rect">
            <a:avLst/>
          </a:prstGeom>
          <a:noFill/>
          <a:ln/>
        </p:spPr>
        <p:txBody>
          <a:bodyPr wrap="square" lIns="0" tIns="0" rIns="0" bIns="0" rtlCol="0" anchor="ctr"/>
          <a:lstStyle/>
          <a:p>
            <a:pPr indent="0" marL="0">
              <a:buNone/>
            </a:pPr>
            <a:r>
              <a:rPr lang="en-US" sz="900" dirty="0">
                <a:solidFill>
                  <a:srgbClr val="1B2E3C"/>
                </a:solidFill>
              </a:rPr>
              <a:t>Pain assessed using the visual analog pain scale and WOMAC scores.</a:t>
            </a:r>
            <a:endParaRPr lang="en-US" sz="900" dirty="0"/>
          </a:p>
        </p:txBody>
      </p:sp>
      <p:sp>
        <p:nvSpPr>
          <p:cNvPr id="27" name="Shape 25"/>
          <p:cNvSpPr/>
          <p:nvPr/>
        </p:nvSpPr>
        <p:spPr>
          <a:xfrm>
            <a:off x="5047488" y="3502152"/>
            <a:ext cx="960120" cy="237744"/>
          </a:xfrm>
          <a:prstGeom prst="rect">
            <a:avLst/>
          </a:prstGeom>
          <a:solidFill>
            <a:srgbClr val="7B3FA0"/>
          </a:solidFill>
          <a:ln w="12700">
            <a:solidFill>
              <a:srgbClr val="7B3FA0"/>
            </a:solidFill>
            <a:prstDash val="solid"/>
          </a:ln>
        </p:spPr>
      </p:sp>
      <p:sp>
        <p:nvSpPr>
          <p:cNvPr id="28" name="Text 26"/>
          <p:cNvSpPr/>
          <p:nvPr/>
        </p:nvSpPr>
        <p:spPr>
          <a:xfrm>
            <a:off x="5047488" y="3520440"/>
            <a:ext cx="960120" cy="201168"/>
          </a:xfrm>
          <a:prstGeom prst="rect">
            <a:avLst/>
          </a:prstGeom>
          <a:noFill/>
          <a:ln/>
        </p:spPr>
        <p:txBody>
          <a:bodyPr wrap="square" lIns="0" tIns="0" rIns="0" bIns="0" rtlCol="0" anchor="ctr"/>
          <a:lstStyle/>
          <a:p>
            <a:pPr algn="ctr" indent="0" marL="0">
              <a:buNone/>
            </a:pPr>
            <a:r>
              <a:rPr lang="en-US" sz="700" b="1" dirty="0">
                <a:solidFill>
                  <a:srgbClr val="FFFFFF"/>
                </a:solidFill>
              </a:rPr>
              <a:t>RESULTS</a:t>
            </a:r>
            <a:endParaRPr lang="en-US" sz="700" dirty="0"/>
          </a:p>
        </p:txBody>
      </p:sp>
      <p:sp>
        <p:nvSpPr>
          <p:cNvPr id="29" name="Text 27"/>
          <p:cNvSpPr/>
          <p:nvPr/>
        </p:nvSpPr>
        <p:spPr>
          <a:xfrm>
            <a:off x="6053328" y="3520440"/>
            <a:ext cx="2633472" cy="438912"/>
          </a:xfrm>
          <a:prstGeom prst="rect">
            <a:avLst/>
          </a:prstGeom>
          <a:noFill/>
          <a:ln/>
        </p:spPr>
        <p:txBody>
          <a:bodyPr wrap="square" lIns="0" tIns="0" rIns="0" bIns="0" rtlCol="0" anchor="ctr"/>
          <a:lstStyle/>
          <a:p>
            <a:pPr indent="0" marL="0">
              <a:buNone/>
            </a:pPr>
            <a:r>
              <a:rPr lang="en-US" sz="900" dirty="0">
                <a:solidFill>
                  <a:srgbClr val="1B2E3C"/>
                </a:solidFill>
              </a:rPr>
              <a:t>Clinically relevant reduction in knee pain and physical function in the intervention group.</a:t>
            </a:r>
            <a:endParaRPr lang="en-US" sz="900" dirty="0"/>
          </a:p>
        </p:txBody>
      </p:sp>
      <p:sp>
        <p:nvSpPr>
          <p:cNvPr id="30" name="Shape 28"/>
          <p:cNvSpPr/>
          <p:nvPr/>
        </p:nvSpPr>
        <p:spPr>
          <a:xfrm>
            <a:off x="5047488" y="4069080"/>
            <a:ext cx="960120" cy="237744"/>
          </a:xfrm>
          <a:prstGeom prst="rect">
            <a:avLst/>
          </a:prstGeom>
          <a:solidFill>
            <a:srgbClr val="C0392B"/>
          </a:solidFill>
          <a:ln w="12700">
            <a:solidFill>
              <a:srgbClr val="C0392B"/>
            </a:solidFill>
            <a:prstDash val="solid"/>
          </a:ln>
        </p:spPr>
      </p:sp>
      <p:sp>
        <p:nvSpPr>
          <p:cNvPr id="31" name="Text 29"/>
          <p:cNvSpPr/>
          <p:nvPr/>
        </p:nvSpPr>
        <p:spPr>
          <a:xfrm>
            <a:off x="5047488" y="4087368"/>
            <a:ext cx="960120" cy="201168"/>
          </a:xfrm>
          <a:prstGeom prst="rect">
            <a:avLst/>
          </a:prstGeom>
          <a:noFill/>
          <a:ln/>
        </p:spPr>
        <p:txBody>
          <a:bodyPr wrap="square" lIns="0" tIns="0" rIns="0" bIns="0" rtlCol="0" anchor="ctr"/>
          <a:lstStyle/>
          <a:p>
            <a:pPr algn="ctr" indent="0" marL="0">
              <a:buNone/>
            </a:pPr>
            <a:r>
              <a:rPr lang="en-US" sz="700" b="1" dirty="0">
                <a:solidFill>
                  <a:srgbClr val="FFFFFF"/>
                </a:solidFill>
              </a:rPr>
              <a:t>CONCLUSIONS</a:t>
            </a:r>
            <a:endParaRPr lang="en-US" sz="700" dirty="0"/>
          </a:p>
        </p:txBody>
      </p:sp>
      <p:sp>
        <p:nvSpPr>
          <p:cNvPr id="32" name="Text 30"/>
          <p:cNvSpPr/>
          <p:nvPr/>
        </p:nvSpPr>
        <p:spPr>
          <a:xfrm>
            <a:off x="6053328" y="4087368"/>
            <a:ext cx="2633472" cy="438912"/>
          </a:xfrm>
          <a:prstGeom prst="rect">
            <a:avLst/>
          </a:prstGeom>
          <a:noFill/>
          <a:ln/>
        </p:spPr>
        <p:txBody>
          <a:bodyPr wrap="square" lIns="0" tIns="0" rIns="0" bIns="0" rtlCol="0" anchor="ctr"/>
          <a:lstStyle/>
          <a:p>
            <a:pPr indent="0" marL="0">
              <a:buNone/>
            </a:pPr>
            <a:r>
              <a:rPr lang="en-US" sz="900" dirty="0">
                <a:solidFill>
                  <a:srgbClr val="1B2E3C"/>
                </a:solidFill>
              </a:rPr>
              <a:t>Low-dose prednisolone had both short-term and sustained effect in knee OA patients.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EXPERIMENT STRATEGY</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5 Models Tested — From Simple to State-of-the-Art</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a:t>
            </a:r>
            <a:endParaRPr lang="en-US" sz="850" dirty="0"/>
          </a:p>
        </p:txBody>
      </p:sp>
      <p:sp>
        <p:nvSpPr>
          <p:cNvPr id="8" name="Text 6"/>
          <p:cNvSpPr/>
          <p:nvPr/>
        </p:nvSpPr>
        <p:spPr>
          <a:xfrm>
            <a:off x="548640" y="1261872"/>
            <a:ext cx="7772400" cy="292608"/>
          </a:xfrm>
          <a:prstGeom prst="rect">
            <a:avLst/>
          </a:prstGeom>
          <a:noFill/>
          <a:ln/>
        </p:spPr>
        <p:txBody>
          <a:bodyPr wrap="square" lIns="0" tIns="0" rIns="0" bIns="0" rtlCol="0" anchor="ctr"/>
          <a:lstStyle/>
          <a:p>
            <a:pPr indent="0" marL="0">
              <a:buNone/>
            </a:pPr>
            <a:r>
              <a:rPr lang="en-US" sz="1200" i="1" dirty="0">
                <a:solidFill>
                  <a:srgbClr val="8AACBC"/>
                </a:solidFill>
              </a:rPr>
              <a:t>We tested five approaches in order of increasing complexity — each one answering a specific question.</a:t>
            </a:r>
            <a:endParaRPr lang="en-US" sz="1200" dirty="0"/>
          </a:p>
        </p:txBody>
      </p:sp>
      <p:sp>
        <p:nvSpPr>
          <p:cNvPr id="9" name="Shape 7"/>
          <p:cNvSpPr/>
          <p:nvPr/>
        </p:nvSpPr>
        <p:spPr>
          <a:xfrm>
            <a:off x="347472" y="1664208"/>
            <a:ext cx="457200" cy="457200"/>
          </a:xfrm>
          <a:prstGeom prst="rect">
            <a:avLst/>
          </a:prstGeom>
          <a:solidFill>
            <a:srgbClr val="7B8DA0"/>
          </a:solidFill>
          <a:ln w="12700">
            <a:solidFill>
              <a:srgbClr val="7B8DA0"/>
            </a:solidFill>
            <a:prstDash val="solid"/>
          </a:ln>
        </p:spPr>
      </p:sp>
      <p:sp>
        <p:nvSpPr>
          <p:cNvPr id="10" name="Text 8"/>
          <p:cNvSpPr/>
          <p:nvPr/>
        </p:nvSpPr>
        <p:spPr>
          <a:xfrm>
            <a:off x="347472" y="1728216"/>
            <a:ext cx="457200" cy="320040"/>
          </a:xfrm>
          <a:prstGeom prst="rect">
            <a:avLst/>
          </a:prstGeom>
          <a:noFill/>
          <a:ln/>
        </p:spPr>
        <p:txBody>
          <a:bodyPr wrap="square" lIns="0" tIns="0" rIns="0" bIns="0" rtlCol="0" anchor="ctr"/>
          <a:lstStyle/>
          <a:p>
            <a:pPr algn="ctr" indent="0" marL="0">
              <a:buNone/>
            </a:pPr>
            <a:r>
              <a:rPr lang="en-US" sz="1200" b="1" dirty="0">
                <a:solidFill>
                  <a:srgbClr val="0D1F2D"/>
                </a:solidFill>
              </a:rPr>
              <a:t>M0</a:t>
            </a:r>
            <a:endParaRPr lang="en-US" sz="1200" dirty="0"/>
          </a:p>
        </p:txBody>
      </p:sp>
      <p:sp>
        <p:nvSpPr>
          <p:cNvPr id="11" name="Text 9"/>
          <p:cNvSpPr/>
          <p:nvPr/>
        </p:nvSpPr>
        <p:spPr>
          <a:xfrm>
            <a:off x="950976" y="1700784"/>
            <a:ext cx="3108960" cy="256032"/>
          </a:xfrm>
          <a:prstGeom prst="rect">
            <a:avLst/>
          </a:prstGeom>
          <a:noFill/>
          <a:ln/>
        </p:spPr>
        <p:txBody>
          <a:bodyPr wrap="square" lIns="0" tIns="0" rIns="0" bIns="0" rtlCol="0" anchor="ctr"/>
          <a:lstStyle/>
          <a:p>
            <a:pPr indent="0" marL="0">
              <a:buNone/>
            </a:pPr>
            <a:r>
              <a:rPr lang="en-US" sz="1300" b="1" dirty="0">
                <a:solidFill>
                  <a:srgbClr val="FFFFFF"/>
                </a:solidFill>
              </a:rPr>
              <a:t>Naïve Bayes + TF-IDF</a:t>
            </a:r>
            <a:endParaRPr lang="en-US" sz="1300" dirty="0"/>
          </a:p>
        </p:txBody>
      </p:sp>
      <p:sp>
        <p:nvSpPr>
          <p:cNvPr id="12" name="Text 10"/>
          <p:cNvSpPr/>
          <p:nvPr/>
        </p:nvSpPr>
        <p:spPr>
          <a:xfrm>
            <a:off x="4206240" y="1709928"/>
            <a:ext cx="4114800" cy="274320"/>
          </a:xfrm>
          <a:prstGeom prst="rect">
            <a:avLst/>
          </a:prstGeom>
          <a:noFill/>
          <a:ln/>
        </p:spPr>
        <p:txBody>
          <a:bodyPr wrap="square" lIns="0" tIns="0" rIns="0" bIns="0" rtlCol="0" anchor="ctr"/>
          <a:lstStyle/>
          <a:p>
            <a:pPr indent="0" marL="0">
              <a:buNone/>
            </a:pPr>
            <a:r>
              <a:rPr lang="en-US" sz="1050" i="1" dirty="0">
                <a:solidFill>
                  <a:srgbClr val="8AACBC"/>
                </a:solidFill>
              </a:rPr>
              <a:t>Can word frequencies alone classify sentences?</a:t>
            </a:r>
            <a:endParaRPr lang="en-US" sz="1050" dirty="0"/>
          </a:p>
        </p:txBody>
      </p:sp>
      <p:sp>
        <p:nvSpPr>
          <p:cNvPr id="13" name="Shape 11"/>
          <p:cNvSpPr/>
          <p:nvPr/>
        </p:nvSpPr>
        <p:spPr>
          <a:xfrm>
            <a:off x="8412480" y="1664208"/>
            <a:ext cx="640080" cy="457200"/>
          </a:xfrm>
          <a:prstGeom prst="rect">
            <a:avLst/>
          </a:prstGeom>
          <a:solidFill>
            <a:srgbClr val="7B8DA0"/>
          </a:solidFill>
          <a:ln w="12700">
            <a:solidFill>
              <a:srgbClr val="7B8DA0"/>
            </a:solidFill>
            <a:prstDash val="solid"/>
          </a:ln>
        </p:spPr>
      </p:sp>
      <p:sp>
        <p:nvSpPr>
          <p:cNvPr id="14" name="Text 12"/>
          <p:cNvSpPr/>
          <p:nvPr/>
        </p:nvSpPr>
        <p:spPr>
          <a:xfrm>
            <a:off x="8412480" y="1737360"/>
            <a:ext cx="640080" cy="310896"/>
          </a:xfrm>
          <a:prstGeom prst="rect">
            <a:avLst/>
          </a:prstGeom>
          <a:noFill/>
          <a:ln/>
        </p:spPr>
        <p:txBody>
          <a:bodyPr wrap="square" lIns="0" tIns="0" rIns="0" bIns="0" rtlCol="0" anchor="ctr"/>
          <a:lstStyle/>
          <a:p>
            <a:pPr algn="ctr" indent="0" marL="0">
              <a:buNone/>
            </a:pPr>
            <a:r>
              <a:rPr lang="en-US" sz="1300" b="1" dirty="0">
                <a:solidFill>
                  <a:srgbClr val="0D1F2D"/>
                </a:solidFill>
              </a:rPr>
              <a:t>~73%</a:t>
            </a:r>
            <a:endParaRPr lang="en-US" sz="1300" dirty="0"/>
          </a:p>
        </p:txBody>
      </p:sp>
      <p:sp>
        <p:nvSpPr>
          <p:cNvPr id="15" name="Shape 13"/>
          <p:cNvSpPr/>
          <p:nvPr/>
        </p:nvSpPr>
        <p:spPr>
          <a:xfrm>
            <a:off x="347472" y="2139696"/>
            <a:ext cx="8705088" cy="9144"/>
          </a:xfrm>
          <a:prstGeom prst="rect">
            <a:avLst/>
          </a:prstGeom>
          <a:solidFill>
            <a:srgbClr val="1E3A4A"/>
          </a:solidFill>
          <a:ln w="12700">
            <a:solidFill>
              <a:srgbClr val="1E3A4A"/>
            </a:solidFill>
            <a:prstDash val="solid"/>
          </a:ln>
        </p:spPr>
      </p:sp>
      <p:sp>
        <p:nvSpPr>
          <p:cNvPr id="16" name="Shape 14"/>
          <p:cNvSpPr/>
          <p:nvPr/>
        </p:nvSpPr>
        <p:spPr>
          <a:xfrm>
            <a:off x="347472" y="2276856"/>
            <a:ext cx="457200" cy="457200"/>
          </a:xfrm>
          <a:prstGeom prst="rect">
            <a:avLst/>
          </a:prstGeom>
          <a:solidFill>
            <a:srgbClr val="1A9CB0"/>
          </a:solidFill>
          <a:ln w="12700">
            <a:solidFill>
              <a:srgbClr val="1A9CB0"/>
            </a:solidFill>
            <a:prstDash val="solid"/>
          </a:ln>
        </p:spPr>
      </p:sp>
      <p:sp>
        <p:nvSpPr>
          <p:cNvPr id="17" name="Text 15"/>
          <p:cNvSpPr/>
          <p:nvPr/>
        </p:nvSpPr>
        <p:spPr>
          <a:xfrm>
            <a:off x="347472" y="2340864"/>
            <a:ext cx="457200" cy="320040"/>
          </a:xfrm>
          <a:prstGeom prst="rect">
            <a:avLst/>
          </a:prstGeom>
          <a:noFill/>
          <a:ln/>
        </p:spPr>
        <p:txBody>
          <a:bodyPr wrap="square" lIns="0" tIns="0" rIns="0" bIns="0" rtlCol="0" anchor="ctr"/>
          <a:lstStyle/>
          <a:p>
            <a:pPr algn="ctr" indent="0" marL="0">
              <a:buNone/>
            </a:pPr>
            <a:r>
              <a:rPr lang="en-US" sz="1200" b="1" dirty="0">
                <a:solidFill>
                  <a:srgbClr val="0D1F2D"/>
                </a:solidFill>
              </a:rPr>
              <a:t>M1</a:t>
            </a:r>
            <a:endParaRPr lang="en-US" sz="1200" dirty="0"/>
          </a:p>
        </p:txBody>
      </p:sp>
      <p:sp>
        <p:nvSpPr>
          <p:cNvPr id="18" name="Text 16"/>
          <p:cNvSpPr/>
          <p:nvPr/>
        </p:nvSpPr>
        <p:spPr>
          <a:xfrm>
            <a:off x="950976" y="2313432"/>
            <a:ext cx="3108960" cy="256032"/>
          </a:xfrm>
          <a:prstGeom prst="rect">
            <a:avLst/>
          </a:prstGeom>
          <a:noFill/>
          <a:ln/>
        </p:spPr>
        <p:txBody>
          <a:bodyPr wrap="square" lIns="0" tIns="0" rIns="0" bIns="0" rtlCol="0" anchor="ctr"/>
          <a:lstStyle/>
          <a:p>
            <a:pPr indent="0" marL="0">
              <a:buNone/>
            </a:pPr>
            <a:r>
              <a:rPr lang="en-US" sz="1300" b="1" dirty="0">
                <a:solidFill>
                  <a:srgbClr val="FFFFFF"/>
                </a:solidFill>
              </a:rPr>
              <a:t>Conv1D Token Embedding</a:t>
            </a:r>
            <a:endParaRPr lang="en-US" sz="1300" dirty="0"/>
          </a:p>
        </p:txBody>
      </p:sp>
      <p:sp>
        <p:nvSpPr>
          <p:cNvPr id="19" name="Text 17"/>
          <p:cNvSpPr/>
          <p:nvPr/>
        </p:nvSpPr>
        <p:spPr>
          <a:xfrm>
            <a:off x="4206240" y="2322576"/>
            <a:ext cx="4114800" cy="274320"/>
          </a:xfrm>
          <a:prstGeom prst="rect">
            <a:avLst/>
          </a:prstGeom>
          <a:noFill/>
          <a:ln/>
        </p:spPr>
        <p:txBody>
          <a:bodyPr wrap="square" lIns="0" tIns="0" rIns="0" bIns="0" rtlCol="0" anchor="ctr"/>
          <a:lstStyle/>
          <a:p>
            <a:pPr indent="0" marL="0">
              <a:buNone/>
            </a:pPr>
            <a:r>
              <a:rPr lang="en-US" sz="1050" i="1" dirty="0">
                <a:solidFill>
                  <a:srgbClr val="8AACBC"/>
                </a:solidFill>
              </a:rPr>
              <a:t>Do local word patterns (n-grams) improve this?</a:t>
            </a:r>
            <a:endParaRPr lang="en-US" sz="1050" dirty="0"/>
          </a:p>
        </p:txBody>
      </p:sp>
      <p:sp>
        <p:nvSpPr>
          <p:cNvPr id="20" name="Shape 18"/>
          <p:cNvSpPr/>
          <p:nvPr/>
        </p:nvSpPr>
        <p:spPr>
          <a:xfrm>
            <a:off x="8412480" y="2276856"/>
            <a:ext cx="640080" cy="457200"/>
          </a:xfrm>
          <a:prstGeom prst="rect">
            <a:avLst/>
          </a:prstGeom>
          <a:solidFill>
            <a:srgbClr val="1A9CB0"/>
          </a:solidFill>
          <a:ln w="12700">
            <a:solidFill>
              <a:srgbClr val="1A9CB0"/>
            </a:solidFill>
            <a:prstDash val="solid"/>
          </a:ln>
        </p:spPr>
      </p:sp>
      <p:sp>
        <p:nvSpPr>
          <p:cNvPr id="21" name="Text 19"/>
          <p:cNvSpPr/>
          <p:nvPr/>
        </p:nvSpPr>
        <p:spPr>
          <a:xfrm>
            <a:off x="8412480" y="2350008"/>
            <a:ext cx="640080" cy="310896"/>
          </a:xfrm>
          <a:prstGeom prst="rect">
            <a:avLst/>
          </a:prstGeom>
          <a:noFill/>
          <a:ln/>
        </p:spPr>
        <p:txBody>
          <a:bodyPr wrap="square" lIns="0" tIns="0" rIns="0" bIns="0" rtlCol="0" anchor="ctr"/>
          <a:lstStyle/>
          <a:p>
            <a:pPr algn="ctr" indent="0" marL="0">
              <a:buNone/>
            </a:pPr>
            <a:r>
              <a:rPr lang="en-US" sz="1300" b="1" dirty="0">
                <a:solidFill>
                  <a:srgbClr val="0D1F2D"/>
                </a:solidFill>
              </a:rPr>
              <a:t>~81%</a:t>
            </a:r>
            <a:endParaRPr lang="en-US" sz="1300" dirty="0"/>
          </a:p>
        </p:txBody>
      </p:sp>
      <p:sp>
        <p:nvSpPr>
          <p:cNvPr id="22" name="Shape 20"/>
          <p:cNvSpPr/>
          <p:nvPr/>
        </p:nvSpPr>
        <p:spPr>
          <a:xfrm>
            <a:off x="347472" y="2752344"/>
            <a:ext cx="8705088" cy="9144"/>
          </a:xfrm>
          <a:prstGeom prst="rect">
            <a:avLst/>
          </a:prstGeom>
          <a:solidFill>
            <a:srgbClr val="1E3A4A"/>
          </a:solidFill>
          <a:ln w="12700">
            <a:solidFill>
              <a:srgbClr val="1E3A4A"/>
            </a:solidFill>
            <a:prstDash val="solid"/>
          </a:ln>
        </p:spPr>
      </p:sp>
      <p:sp>
        <p:nvSpPr>
          <p:cNvPr id="23" name="Shape 21"/>
          <p:cNvSpPr/>
          <p:nvPr/>
        </p:nvSpPr>
        <p:spPr>
          <a:xfrm>
            <a:off x="347472" y="2889504"/>
            <a:ext cx="457200" cy="457200"/>
          </a:xfrm>
          <a:prstGeom prst="rect">
            <a:avLst/>
          </a:prstGeom>
          <a:solidFill>
            <a:srgbClr val="0A6E8A"/>
          </a:solidFill>
          <a:ln w="12700">
            <a:solidFill>
              <a:srgbClr val="0A6E8A"/>
            </a:solidFill>
            <a:prstDash val="solid"/>
          </a:ln>
        </p:spPr>
      </p:sp>
      <p:sp>
        <p:nvSpPr>
          <p:cNvPr id="24" name="Text 22"/>
          <p:cNvSpPr/>
          <p:nvPr/>
        </p:nvSpPr>
        <p:spPr>
          <a:xfrm>
            <a:off x="347472" y="2953512"/>
            <a:ext cx="457200" cy="320040"/>
          </a:xfrm>
          <a:prstGeom prst="rect">
            <a:avLst/>
          </a:prstGeom>
          <a:noFill/>
          <a:ln/>
        </p:spPr>
        <p:txBody>
          <a:bodyPr wrap="square" lIns="0" tIns="0" rIns="0" bIns="0" rtlCol="0" anchor="ctr"/>
          <a:lstStyle/>
          <a:p>
            <a:pPr algn="ctr" indent="0" marL="0">
              <a:buNone/>
            </a:pPr>
            <a:r>
              <a:rPr lang="en-US" sz="1200" b="1" dirty="0">
                <a:solidFill>
                  <a:srgbClr val="0D1F2D"/>
                </a:solidFill>
              </a:rPr>
              <a:t>M2</a:t>
            </a:r>
            <a:endParaRPr lang="en-US" sz="1200" dirty="0"/>
          </a:p>
        </p:txBody>
      </p:sp>
      <p:sp>
        <p:nvSpPr>
          <p:cNvPr id="25" name="Text 23"/>
          <p:cNvSpPr/>
          <p:nvPr/>
        </p:nvSpPr>
        <p:spPr>
          <a:xfrm>
            <a:off x="950976" y="2926080"/>
            <a:ext cx="3108960" cy="256032"/>
          </a:xfrm>
          <a:prstGeom prst="rect">
            <a:avLst/>
          </a:prstGeom>
          <a:noFill/>
          <a:ln/>
        </p:spPr>
        <p:txBody>
          <a:bodyPr wrap="square" lIns="0" tIns="0" rIns="0" bIns="0" rtlCol="0" anchor="ctr"/>
          <a:lstStyle/>
          <a:p>
            <a:pPr indent="0" marL="0">
              <a:buNone/>
            </a:pPr>
            <a:r>
              <a:rPr lang="en-US" sz="1300" b="1" dirty="0">
                <a:solidFill>
                  <a:srgbClr val="FFFFFF"/>
                </a:solidFill>
              </a:rPr>
              <a:t>MiniLM Transfer Learning</a:t>
            </a:r>
            <a:endParaRPr lang="en-US" sz="1300" dirty="0"/>
          </a:p>
        </p:txBody>
      </p:sp>
      <p:sp>
        <p:nvSpPr>
          <p:cNvPr id="26" name="Text 24"/>
          <p:cNvSpPr/>
          <p:nvPr/>
        </p:nvSpPr>
        <p:spPr>
          <a:xfrm>
            <a:off x="4206240" y="2935224"/>
            <a:ext cx="4114800" cy="274320"/>
          </a:xfrm>
          <a:prstGeom prst="rect">
            <a:avLst/>
          </a:prstGeom>
          <a:noFill/>
          <a:ln/>
        </p:spPr>
        <p:txBody>
          <a:bodyPr wrap="square" lIns="0" tIns="0" rIns="0" bIns="0" rtlCol="0" anchor="ctr"/>
          <a:lstStyle/>
          <a:p>
            <a:pPr indent="0" marL="0">
              <a:buNone/>
            </a:pPr>
            <a:r>
              <a:rPr lang="en-US" sz="1050" i="1" dirty="0">
                <a:solidFill>
                  <a:srgbClr val="8AACBC"/>
                </a:solidFill>
              </a:rPr>
              <a:t>Do pretrained semantic embeddings help?</a:t>
            </a:r>
            <a:endParaRPr lang="en-US" sz="1050" dirty="0"/>
          </a:p>
        </p:txBody>
      </p:sp>
      <p:sp>
        <p:nvSpPr>
          <p:cNvPr id="27" name="Shape 25"/>
          <p:cNvSpPr/>
          <p:nvPr/>
        </p:nvSpPr>
        <p:spPr>
          <a:xfrm>
            <a:off x="8412480" y="2889504"/>
            <a:ext cx="640080" cy="457200"/>
          </a:xfrm>
          <a:prstGeom prst="rect">
            <a:avLst/>
          </a:prstGeom>
          <a:solidFill>
            <a:srgbClr val="0A6E8A"/>
          </a:solidFill>
          <a:ln w="12700">
            <a:solidFill>
              <a:srgbClr val="0A6E8A"/>
            </a:solidFill>
            <a:prstDash val="solid"/>
          </a:ln>
        </p:spPr>
      </p:sp>
      <p:sp>
        <p:nvSpPr>
          <p:cNvPr id="28" name="Text 26"/>
          <p:cNvSpPr/>
          <p:nvPr/>
        </p:nvSpPr>
        <p:spPr>
          <a:xfrm>
            <a:off x="8412480" y="2962656"/>
            <a:ext cx="640080" cy="310896"/>
          </a:xfrm>
          <a:prstGeom prst="rect">
            <a:avLst/>
          </a:prstGeom>
          <a:noFill/>
          <a:ln/>
        </p:spPr>
        <p:txBody>
          <a:bodyPr wrap="square" lIns="0" tIns="0" rIns="0" bIns="0" rtlCol="0" anchor="ctr"/>
          <a:lstStyle/>
          <a:p>
            <a:pPr algn="ctr" indent="0" marL="0">
              <a:buNone/>
            </a:pPr>
            <a:r>
              <a:rPr lang="en-US" sz="1300" b="1" dirty="0">
                <a:solidFill>
                  <a:srgbClr val="0D1F2D"/>
                </a:solidFill>
              </a:rPr>
              <a:t>~85%</a:t>
            </a:r>
            <a:endParaRPr lang="en-US" sz="1300" dirty="0"/>
          </a:p>
        </p:txBody>
      </p:sp>
      <p:sp>
        <p:nvSpPr>
          <p:cNvPr id="29" name="Shape 27"/>
          <p:cNvSpPr/>
          <p:nvPr/>
        </p:nvSpPr>
        <p:spPr>
          <a:xfrm>
            <a:off x="347472" y="3364992"/>
            <a:ext cx="8705088" cy="9144"/>
          </a:xfrm>
          <a:prstGeom prst="rect">
            <a:avLst/>
          </a:prstGeom>
          <a:solidFill>
            <a:srgbClr val="1E3A4A"/>
          </a:solidFill>
          <a:ln w="12700">
            <a:solidFill>
              <a:srgbClr val="1E3A4A"/>
            </a:solidFill>
            <a:prstDash val="solid"/>
          </a:ln>
        </p:spPr>
      </p:sp>
      <p:sp>
        <p:nvSpPr>
          <p:cNvPr id="30" name="Shape 28"/>
          <p:cNvSpPr/>
          <p:nvPr/>
        </p:nvSpPr>
        <p:spPr>
          <a:xfrm>
            <a:off x="347472" y="3502152"/>
            <a:ext cx="457200" cy="457200"/>
          </a:xfrm>
          <a:prstGeom prst="rect">
            <a:avLst/>
          </a:prstGeom>
          <a:solidFill>
            <a:srgbClr val="1A9CB0"/>
          </a:solidFill>
          <a:ln w="12700">
            <a:solidFill>
              <a:srgbClr val="1A9CB0"/>
            </a:solidFill>
            <a:prstDash val="solid"/>
          </a:ln>
        </p:spPr>
      </p:sp>
      <p:sp>
        <p:nvSpPr>
          <p:cNvPr id="31" name="Text 29"/>
          <p:cNvSpPr/>
          <p:nvPr/>
        </p:nvSpPr>
        <p:spPr>
          <a:xfrm>
            <a:off x="347472" y="3566160"/>
            <a:ext cx="457200" cy="320040"/>
          </a:xfrm>
          <a:prstGeom prst="rect">
            <a:avLst/>
          </a:prstGeom>
          <a:noFill/>
          <a:ln/>
        </p:spPr>
        <p:txBody>
          <a:bodyPr wrap="square" lIns="0" tIns="0" rIns="0" bIns="0" rtlCol="0" anchor="ctr"/>
          <a:lstStyle/>
          <a:p>
            <a:pPr algn="ctr" indent="0" marL="0">
              <a:buNone/>
            </a:pPr>
            <a:r>
              <a:rPr lang="en-US" sz="1200" b="1" dirty="0">
                <a:solidFill>
                  <a:srgbClr val="0D1F2D"/>
                </a:solidFill>
              </a:rPr>
              <a:t>M3</a:t>
            </a:r>
            <a:endParaRPr lang="en-US" sz="1200" dirty="0"/>
          </a:p>
        </p:txBody>
      </p:sp>
      <p:sp>
        <p:nvSpPr>
          <p:cNvPr id="32" name="Text 30"/>
          <p:cNvSpPr/>
          <p:nvPr/>
        </p:nvSpPr>
        <p:spPr>
          <a:xfrm>
            <a:off x="950976" y="3538728"/>
            <a:ext cx="3108960" cy="256032"/>
          </a:xfrm>
          <a:prstGeom prst="rect">
            <a:avLst/>
          </a:prstGeom>
          <a:noFill/>
          <a:ln/>
        </p:spPr>
        <p:txBody>
          <a:bodyPr wrap="square" lIns="0" tIns="0" rIns="0" bIns="0" rtlCol="0" anchor="ctr"/>
          <a:lstStyle/>
          <a:p>
            <a:pPr indent="0" marL="0">
              <a:buNone/>
            </a:pPr>
            <a:r>
              <a:rPr lang="en-US" sz="1300" b="1" dirty="0">
                <a:solidFill>
                  <a:srgbClr val="FFFFFF"/>
                </a:solidFill>
              </a:rPr>
              <a:t>Conv1D Char Embedding</a:t>
            </a:r>
            <a:endParaRPr lang="en-US" sz="1300" dirty="0"/>
          </a:p>
        </p:txBody>
      </p:sp>
      <p:sp>
        <p:nvSpPr>
          <p:cNvPr id="33" name="Text 31"/>
          <p:cNvSpPr/>
          <p:nvPr/>
        </p:nvSpPr>
        <p:spPr>
          <a:xfrm>
            <a:off x="4206240" y="3547872"/>
            <a:ext cx="4114800" cy="274320"/>
          </a:xfrm>
          <a:prstGeom prst="rect">
            <a:avLst/>
          </a:prstGeom>
          <a:noFill/>
          <a:ln/>
        </p:spPr>
        <p:txBody>
          <a:bodyPr wrap="square" lIns="0" tIns="0" rIns="0" bIns="0" rtlCol="0" anchor="ctr"/>
          <a:lstStyle/>
          <a:p>
            <a:pPr indent="0" marL="0">
              <a:buNone/>
            </a:pPr>
            <a:r>
              <a:rPr lang="en-US" sz="1050" i="1" dirty="0">
                <a:solidFill>
                  <a:srgbClr val="8AACBC"/>
                </a:solidFill>
              </a:rPr>
              <a:t>Can character-level features handle medical jargon better?</a:t>
            </a:r>
            <a:endParaRPr lang="en-US" sz="1050" dirty="0"/>
          </a:p>
        </p:txBody>
      </p:sp>
      <p:sp>
        <p:nvSpPr>
          <p:cNvPr id="34" name="Shape 32"/>
          <p:cNvSpPr/>
          <p:nvPr/>
        </p:nvSpPr>
        <p:spPr>
          <a:xfrm>
            <a:off x="8412480" y="3502152"/>
            <a:ext cx="640080" cy="457200"/>
          </a:xfrm>
          <a:prstGeom prst="rect">
            <a:avLst/>
          </a:prstGeom>
          <a:solidFill>
            <a:srgbClr val="1A9CB0"/>
          </a:solidFill>
          <a:ln w="12700">
            <a:solidFill>
              <a:srgbClr val="1A9CB0"/>
            </a:solidFill>
            <a:prstDash val="solid"/>
          </a:ln>
        </p:spPr>
      </p:sp>
      <p:sp>
        <p:nvSpPr>
          <p:cNvPr id="35" name="Text 33"/>
          <p:cNvSpPr/>
          <p:nvPr/>
        </p:nvSpPr>
        <p:spPr>
          <a:xfrm>
            <a:off x="8412480" y="3575304"/>
            <a:ext cx="640080" cy="310896"/>
          </a:xfrm>
          <a:prstGeom prst="rect">
            <a:avLst/>
          </a:prstGeom>
          <a:noFill/>
          <a:ln/>
        </p:spPr>
        <p:txBody>
          <a:bodyPr wrap="square" lIns="0" tIns="0" rIns="0" bIns="0" rtlCol="0" anchor="ctr"/>
          <a:lstStyle/>
          <a:p>
            <a:pPr algn="ctr" indent="0" marL="0">
              <a:buNone/>
            </a:pPr>
            <a:r>
              <a:rPr lang="en-US" sz="1300" b="1" dirty="0">
                <a:solidFill>
                  <a:srgbClr val="0D1F2D"/>
                </a:solidFill>
              </a:rPr>
              <a:t>~79%</a:t>
            </a:r>
            <a:endParaRPr lang="en-US" sz="1300" dirty="0"/>
          </a:p>
        </p:txBody>
      </p:sp>
      <p:sp>
        <p:nvSpPr>
          <p:cNvPr id="36" name="Shape 34"/>
          <p:cNvSpPr/>
          <p:nvPr/>
        </p:nvSpPr>
        <p:spPr>
          <a:xfrm>
            <a:off x="347472" y="3977640"/>
            <a:ext cx="8705088" cy="9144"/>
          </a:xfrm>
          <a:prstGeom prst="rect">
            <a:avLst/>
          </a:prstGeom>
          <a:solidFill>
            <a:srgbClr val="1E3A4A"/>
          </a:solidFill>
          <a:ln w="12700">
            <a:solidFill>
              <a:srgbClr val="1E3A4A"/>
            </a:solidFill>
            <a:prstDash val="solid"/>
          </a:ln>
        </p:spPr>
      </p:sp>
      <p:sp>
        <p:nvSpPr>
          <p:cNvPr id="37" name="Shape 35"/>
          <p:cNvSpPr/>
          <p:nvPr/>
        </p:nvSpPr>
        <p:spPr>
          <a:xfrm>
            <a:off x="347472" y="4114800"/>
            <a:ext cx="457200" cy="457200"/>
          </a:xfrm>
          <a:prstGeom prst="rect">
            <a:avLst/>
          </a:prstGeom>
          <a:solidFill>
            <a:srgbClr val="F4A03A"/>
          </a:solidFill>
          <a:ln w="12700">
            <a:solidFill>
              <a:srgbClr val="F4A03A"/>
            </a:solidFill>
            <a:prstDash val="solid"/>
          </a:ln>
        </p:spPr>
      </p:sp>
      <p:sp>
        <p:nvSpPr>
          <p:cNvPr id="38" name="Text 36"/>
          <p:cNvSpPr/>
          <p:nvPr/>
        </p:nvSpPr>
        <p:spPr>
          <a:xfrm>
            <a:off x="347472" y="4178808"/>
            <a:ext cx="457200" cy="320040"/>
          </a:xfrm>
          <a:prstGeom prst="rect">
            <a:avLst/>
          </a:prstGeom>
          <a:noFill/>
          <a:ln/>
        </p:spPr>
        <p:txBody>
          <a:bodyPr wrap="square" lIns="0" tIns="0" rIns="0" bIns="0" rtlCol="0" anchor="ctr"/>
          <a:lstStyle/>
          <a:p>
            <a:pPr algn="ctr" indent="0" marL="0">
              <a:buNone/>
            </a:pPr>
            <a:r>
              <a:rPr lang="en-US" sz="1200" b="1" dirty="0">
                <a:solidFill>
                  <a:srgbClr val="0D1F2D"/>
                </a:solidFill>
              </a:rPr>
              <a:t>M4</a:t>
            </a:r>
            <a:endParaRPr lang="en-US" sz="1200" dirty="0"/>
          </a:p>
        </p:txBody>
      </p:sp>
      <p:sp>
        <p:nvSpPr>
          <p:cNvPr id="39" name="Text 37"/>
          <p:cNvSpPr/>
          <p:nvPr/>
        </p:nvSpPr>
        <p:spPr>
          <a:xfrm>
            <a:off x="950976" y="4151376"/>
            <a:ext cx="3108960" cy="256032"/>
          </a:xfrm>
          <a:prstGeom prst="rect">
            <a:avLst/>
          </a:prstGeom>
          <a:noFill/>
          <a:ln/>
        </p:spPr>
        <p:txBody>
          <a:bodyPr wrap="square" lIns="0" tIns="0" rIns="0" bIns="0" rtlCol="0" anchor="ctr"/>
          <a:lstStyle/>
          <a:p>
            <a:pPr indent="0" marL="0">
              <a:buNone/>
            </a:pPr>
            <a:r>
              <a:rPr lang="en-US" sz="1300" b="1" dirty="0">
                <a:solidFill>
                  <a:srgbClr val="FFFFFF"/>
                </a:solidFill>
              </a:rPr>
              <a:t>BERT Fine-tuning</a:t>
            </a:r>
            <a:endParaRPr lang="en-US" sz="1300" dirty="0"/>
          </a:p>
        </p:txBody>
      </p:sp>
      <p:sp>
        <p:nvSpPr>
          <p:cNvPr id="40" name="Text 38"/>
          <p:cNvSpPr/>
          <p:nvPr/>
        </p:nvSpPr>
        <p:spPr>
          <a:xfrm>
            <a:off x="4206240" y="4160520"/>
            <a:ext cx="4114800" cy="274320"/>
          </a:xfrm>
          <a:prstGeom prst="rect">
            <a:avLst/>
          </a:prstGeom>
          <a:noFill/>
          <a:ln/>
        </p:spPr>
        <p:txBody>
          <a:bodyPr wrap="square" lIns="0" tIns="0" rIns="0" bIns="0" rtlCol="0" anchor="ctr"/>
          <a:lstStyle/>
          <a:p>
            <a:pPr indent="0" marL="0">
              <a:buNone/>
            </a:pPr>
            <a:r>
              <a:rPr lang="en-US" sz="1050" i="1" dirty="0">
                <a:solidFill>
                  <a:srgbClr val="8AACBC"/>
                </a:solidFill>
              </a:rPr>
              <a:t>What happens when we fine-tune a 110M-parameter language model?</a:t>
            </a:r>
            <a:endParaRPr lang="en-US" sz="1050" dirty="0"/>
          </a:p>
        </p:txBody>
      </p:sp>
      <p:sp>
        <p:nvSpPr>
          <p:cNvPr id="41" name="Shape 39"/>
          <p:cNvSpPr/>
          <p:nvPr/>
        </p:nvSpPr>
        <p:spPr>
          <a:xfrm>
            <a:off x="8412480" y="4114800"/>
            <a:ext cx="640080" cy="457200"/>
          </a:xfrm>
          <a:prstGeom prst="rect">
            <a:avLst/>
          </a:prstGeom>
          <a:solidFill>
            <a:srgbClr val="F4A03A"/>
          </a:solidFill>
          <a:ln w="12700">
            <a:solidFill>
              <a:srgbClr val="F4A03A"/>
            </a:solidFill>
            <a:prstDash val="solid"/>
          </a:ln>
        </p:spPr>
      </p:sp>
      <p:sp>
        <p:nvSpPr>
          <p:cNvPr id="42" name="Text 40"/>
          <p:cNvSpPr/>
          <p:nvPr/>
        </p:nvSpPr>
        <p:spPr>
          <a:xfrm>
            <a:off x="8412480" y="4187952"/>
            <a:ext cx="640080" cy="310896"/>
          </a:xfrm>
          <a:prstGeom prst="rect">
            <a:avLst/>
          </a:prstGeom>
          <a:noFill/>
          <a:ln/>
        </p:spPr>
        <p:txBody>
          <a:bodyPr wrap="square" lIns="0" tIns="0" rIns="0" bIns="0" rtlCol="0" anchor="ctr"/>
          <a:lstStyle/>
          <a:p>
            <a:pPr algn="ctr" indent="0" marL="0">
              <a:buNone/>
            </a:pPr>
            <a:r>
              <a:rPr lang="en-US" sz="1300" b="1" dirty="0">
                <a:solidFill>
                  <a:srgbClr val="0D1F2D"/>
                </a:solidFill>
              </a:rPr>
              <a:t>~90%</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APPROACH — MODELS 0 &amp; 1</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Starting Simple: Rules, Then Neural Pattern Matching</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   ·   M0: ~73%  ·  M1: ~81%</a:t>
            </a:r>
            <a:endParaRPr lang="en-US" sz="850" dirty="0"/>
          </a:p>
        </p:txBody>
      </p:sp>
      <p:sp>
        <p:nvSpPr>
          <p:cNvPr id="8" name="Shape 6"/>
          <p:cNvSpPr/>
          <p:nvPr/>
        </p:nvSpPr>
        <p:spPr>
          <a:xfrm>
            <a:off x="347472" y="1389888"/>
            <a:ext cx="4114800" cy="324612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47472" y="1389888"/>
            <a:ext cx="4114800" cy="329184"/>
          </a:xfrm>
          <a:prstGeom prst="rect">
            <a:avLst/>
          </a:prstGeom>
          <a:solidFill>
            <a:srgbClr val="7B8DA0"/>
          </a:solidFill>
          <a:ln w="12700">
            <a:solidFill>
              <a:srgbClr val="7B8DA0"/>
            </a:solidFill>
            <a:prstDash val="solid"/>
          </a:ln>
        </p:spPr>
      </p:sp>
      <p:sp>
        <p:nvSpPr>
          <p:cNvPr id="10" name="Text 8"/>
          <p:cNvSpPr/>
          <p:nvPr/>
        </p:nvSpPr>
        <p:spPr>
          <a:xfrm>
            <a:off x="438912" y="1408176"/>
            <a:ext cx="3931920" cy="274320"/>
          </a:xfrm>
          <a:prstGeom prst="rect">
            <a:avLst/>
          </a:prstGeom>
          <a:noFill/>
          <a:ln/>
        </p:spPr>
        <p:txBody>
          <a:bodyPr wrap="square" lIns="0" tIns="0" rIns="0" bIns="0" rtlCol="0" anchor="ctr"/>
          <a:lstStyle/>
          <a:p>
            <a:pPr indent="0" marL="0">
              <a:buNone/>
            </a:pPr>
            <a:r>
              <a:rPr lang="en-US" sz="950" b="1" spc="50" kern="0" dirty="0">
                <a:solidFill>
                  <a:srgbClr val="FFFFFF"/>
                </a:solidFill>
              </a:rPr>
              <a:t>MODEL 0  —  Naïve Bayes + TF-IDF  (Baseline)</a:t>
            </a:r>
            <a:endParaRPr lang="en-US" sz="950" dirty="0"/>
          </a:p>
        </p:txBody>
      </p:sp>
      <p:sp>
        <p:nvSpPr>
          <p:cNvPr id="11" name="Text 9"/>
          <p:cNvSpPr/>
          <p:nvPr/>
        </p:nvSpPr>
        <p:spPr>
          <a:xfrm>
            <a:off x="502920" y="181051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How it works:</a:t>
            </a:r>
            <a:endParaRPr lang="en-US" sz="1100" dirty="0"/>
          </a:p>
        </p:txBody>
      </p:sp>
      <p:sp>
        <p:nvSpPr>
          <p:cNvPr id="12" name="Text 10"/>
          <p:cNvSpPr/>
          <p:nvPr/>
        </p:nvSpPr>
        <p:spPr>
          <a:xfrm>
            <a:off x="502920" y="2048256"/>
            <a:ext cx="3840480" cy="530352"/>
          </a:xfrm>
          <a:prstGeom prst="rect">
            <a:avLst/>
          </a:prstGeom>
          <a:noFill/>
          <a:ln/>
        </p:spPr>
        <p:txBody>
          <a:bodyPr wrap="square" lIns="0" tIns="0" rIns="0" bIns="0" rtlCol="0" anchor="ctr"/>
          <a:lstStyle/>
          <a:p>
            <a:pPr indent="0" marL="0">
              <a:buNone/>
            </a:pPr>
            <a:r>
              <a:rPr lang="en-US" sz="1050" dirty="0">
                <a:solidFill>
                  <a:srgbClr val="1B2E3C"/>
                </a:solidFill>
              </a:rPr>
              <a:t>Converts sentences into word-frequency vectors (TF-IDF), then classifies using probability statistics. No GPU, no training time.</a:t>
            </a:r>
            <a:endParaRPr lang="en-US" sz="1050" dirty="0"/>
          </a:p>
        </p:txBody>
      </p:sp>
      <p:sp>
        <p:nvSpPr>
          <p:cNvPr id="13" name="Text 11"/>
          <p:cNvSpPr/>
          <p:nvPr/>
        </p:nvSpPr>
        <p:spPr>
          <a:xfrm>
            <a:off x="502920" y="2651760"/>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Why it works:</a:t>
            </a:r>
            <a:endParaRPr lang="en-US" sz="1100" dirty="0"/>
          </a:p>
        </p:txBody>
      </p:sp>
      <p:sp>
        <p:nvSpPr>
          <p:cNvPr id="14" name="Text 12"/>
          <p:cNvSpPr/>
          <p:nvPr/>
        </p:nvSpPr>
        <p:spPr>
          <a:xfrm>
            <a:off x="502920" y="2889504"/>
            <a:ext cx="3840480" cy="457200"/>
          </a:xfrm>
          <a:prstGeom prst="rect">
            <a:avLst/>
          </a:prstGeom>
          <a:noFill/>
          <a:ln/>
        </p:spPr>
        <p:txBody>
          <a:bodyPr wrap="square" lIns="0" tIns="0" rIns="0" bIns="0" rtlCol="0" anchor="ctr"/>
          <a:lstStyle/>
          <a:p>
            <a:pPr indent="0" marL="0">
              <a:buNone/>
            </a:pPr>
            <a:r>
              <a:rPr lang="en-US" sz="1050" dirty="0">
                <a:solidFill>
                  <a:srgbClr val="1B2E3C"/>
                </a:solidFill>
              </a:rPr>
              <a:t>Each section uses distinct vocabulary. 'Were randomised' predicts METHODS. 'We conclude' predicts CONCLUSIONS.</a:t>
            </a:r>
            <a:endParaRPr lang="en-US" sz="1050" dirty="0"/>
          </a:p>
        </p:txBody>
      </p:sp>
      <p:sp>
        <p:nvSpPr>
          <p:cNvPr id="15" name="Shape 13"/>
          <p:cNvSpPr/>
          <p:nvPr/>
        </p:nvSpPr>
        <p:spPr>
          <a:xfrm>
            <a:off x="347472" y="3419856"/>
            <a:ext cx="4114800" cy="749808"/>
          </a:xfrm>
          <a:prstGeom prst="rect">
            <a:avLst/>
          </a:prstGeom>
          <a:solidFill>
            <a:srgbClr val="1B2E3C"/>
          </a:solidFill>
          <a:ln w="12700">
            <a:solidFill>
              <a:srgbClr val="0D1F2D"/>
            </a:solidFill>
            <a:prstDash val="solid"/>
          </a:ln>
        </p:spPr>
      </p:sp>
      <p:sp>
        <p:nvSpPr>
          <p:cNvPr id="16" name="Text 14"/>
          <p:cNvSpPr/>
          <p:nvPr/>
        </p:nvSpPr>
        <p:spPr>
          <a:xfrm>
            <a:off x="457200" y="3474720"/>
            <a:ext cx="3931920" cy="182880"/>
          </a:xfrm>
          <a:prstGeom prst="rect">
            <a:avLst/>
          </a:prstGeom>
          <a:noFill/>
          <a:ln/>
        </p:spPr>
        <p:txBody>
          <a:bodyPr wrap="square" lIns="0" tIns="0" rIns="0" bIns="0" rtlCol="0" anchor="ctr"/>
          <a:lstStyle/>
          <a:p>
            <a:pPr indent="0" marL="0">
              <a:buNone/>
            </a:pPr>
            <a:r>
              <a:rPr lang="en-US" sz="750" b="1" spc="200" kern="0" dirty="0">
                <a:solidFill>
                  <a:srgbClr val="F4A03A"/>
                </a:solidFill>
              </a:rPr>
              <a:t>TECHNICAL SPECS</a:t>
            </a:r>
            <a:endParaRPr lang="en-US" sz="750" dirty="0"/>
          </a:p>
        </p:txBody>
      </p:sp>
      <p:sp>
        <p:nvSpPr>
          <p:cNvPr id="17" name="Shape 15"/>
          <p:cNvSpPr/>
          <p:nvPr/>
        </p:nvSpPr>
        <p:spPr>
          <a:xfrm>
            <a:off x="457200" y="3675888"/>
            <a:ext cx="1856232" cy="155448"/>
          </a:xfrm>
          <a:prstGeom prst="rect">
            <a:avLst/>
          </a:prstGeom>
          <a:solidFill>
            <a:srgbClr val="0D2A38"/>
          </a:solidFill>
          <a:ln w="12700">
            <a:solidFill>
              <a:srgbClr val="1A4060"/>
            </a:solidFill>
            <a:prstDash val="solid"/>
          </a:ln>
        </p:spPr>
      </p:sp>
      <p:sp>
        <p:nvSpPr>
          <p:cNvPr id="18" name="Text 16"/>
          <p:cNvSpPr/>
          <p:nvPr/>
        </p:nvSpPr>
        <p:spPr>
          <a:xfrm>
            <a:off x="502920"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Vocab: 50k bigrams</a:t>
            </a:r>
            <a:endParaRPr lang="en-US" sz="750" dirty="0"/>
          </a:p>
        </p:txBody>
      </p:sp>
      <p:sp>
        <p:nvSpPr>
          <p:cNvPr id="19" name="Shape 17"/>
          <p:cNvSpPr/>
          <p:nvPr/>
        </p:nvSpPr>
        <p:spPr>
          <a:xfrm>
            <a:off x="457200" y="3877056"/>
            <a:ext cx="1856232" cy="155448"/>
          </a:xfrm>
          <a:prstGeom prst="rect">
            <a:avLst/>
          </a:prstGeom>
          <a:solidFill>
            <a:srgbClr val="0D2A38"/>
          </a:solidFill>
          <a:ln w="12700">
            <a:solidFill>
              <a:srgbClr val="1A4060"/>
            </a:solidFill>
            <a:prstDash val="solid"/>
          </a:ln>
        </p:spPr>
      </p:sp>
      <p:sp>
        <p:nvSpPr>
          <p:cNvPr id="20" name="Text 18"/>
          <p:cNvSpPr/>
          <p:nvPr/>
        </p:nvSpPr>
        <p:spPr>
          <a:xfrm>
            <a:off x="502920"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Vectoriser: TF-IDF</a:t>
            </a:r>
            <a:endParaRPr lang="en-US" sz="750" dirty="0"/>
          </a:p>
        </p:txBody>
      </p:sp>
      <p:sp>
        <p:nvSpPr>
          <p:cNvPr id="21" name="Shape 19"/>
          <p:cNvSpPr/>
          <p:nvPr/>
        </p:nvSpPr>
        <p:spPr>
          <a:xfrm>
            <a:off x="457200" y="4078224"/>
            <a:ext cx="1856232" cy="155448"/>
          </a:xfrm>
          <a:prstGeom prst="rect">
            <a:avLst/>
          </a:prstGeom>
          <a:solidFill>
            <a:srgbClr val="0D2A38"/>
          </a:solidFill>
          <a:ln w="12700">
            <a:solidFill>
              <a:srgbClr val="1A4060"/>
            </a:solidFill>
            <a:prstDash val="solid"/>
          </a:ln>
        </p:spPr>
      </p:sp>
      <p:sp>
        <p:nvSpPr>
          <p:cNvPr id="22" name="Text 20"/>
          <p:cNvSpPr/>
          <p:nvPr/>
        </p:nvSpPr>
        <p:spPr>
          <a:xfrm>
            <a:off x="502920"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Classifier: Multinomial NB</a:t>
            </a:r>
            <a:endParaRPr lang="en-US" sz="750" dirty="0"/>
          </a:p>
        </p:txBody>
      </p:sp>
      <p:sp>
        <p:nvSpPr>
          <p:cNvPr id="23" name="Shape 21"/>
          <p:cNvSpPr/>
          <p:nvPr/>
        </p:nvSpPr>
        <p:spPr>
          <a:xfrm>
            <a:off x="2423160" y="3675888"/>
            <a:ext cx="1856232" cy="155448"/>
          </a:xfrm>
          <a:prstGeom prst="rect">
            <a:avLst/>
          </a:prstGeom>
          <a:solidFill>
            <a:srgbClr val="0D2A38"/>
          </a:solidFill>
          <a:ln w="12700">
            <a:solidFill>
              <a:srgbClr val="1A4060"/>
            </a:solidFill>
            <a:prstDash val="solid"/>
          </a:ln>
        </p:spPr>
      </p:sp>
      <p:sp>
        <p:nvSpPr>
          <p:cNvPr id="24" name="Text 22"/>
          <p:cNvSpPr/>
          <p:nvPr/>
        </p:nvSpPr>
        <p:spPr>
          <a:xfrm>
            <a:off x="2468880"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Epochs: N/A (no gradient)</a:t>
            </a:r>
            <a:endParaRPr lang="en-US" sz="750" dirty="0"/>
          </a:p>
        </p:txBody>
      </p:sp>
      <p:sp>
        <p:nvSpPr>
          <p:cNvPr id="25" name="Shape 23"/>
          <p:cNvSpPr/>
          <p:nvPr/>
        </p:nvSpPr>
        <p:spPr>
          <a:xfrm>
            <a:off x="2423160" y="3877056"/>
            <a:ext cx="1856232" cy="155448"/>
          </a:xfrm>
          <a:prstGeom prst="rect">
            <a:avLst/>
          </a:prstGeom>
          <a:solidFill>
            <a:srgbClr val="0D2A38"/>
          </a:solidFill>
          <a:ln w="12700">
            <a:solidFill>
              <a:srgbClr val="1A4060"/>
            </a:solidFill>
            <a:prstDash val="solid"/>
          </a:ln>
        </p:spPr>
      </p:sp>
      <p:sp>
        <p:nvSpPr>
          <p:cNvPr id="26" name="Text 24"/>
          <p:cNvSpPr/>
          <p:nvPr/>
        </p:nvSpPr>
        <p:spPr>
          <a:xfrm>
            <a:off x="2468880"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GPU: Not required</a:t>
            </a:r>
            <a:endParaRPr lang="en-US" sz="750" dirty="0"/>
          </a:p>
        </p:txBody>
      </p:sp>
      <p:sp>
        <p:nvSpPr>
          <p:cNvPr id="27" name="Shape 25"/>
          <p:cNvSpPr/>
          <p:nvPr/>
        </p:nvSpPr>
        <p:spPr>
          <a:xfrm>
            <a:off x="347472" y="4315968"/>
            <a:ext cx="4114800" cy="320040"/>
          </a:xfrm>
          <a:prstGeom prst="rect">
            <a:avLst/>
          </a:prstGeom>
          <a:solidFill>
            <a:srgbClr val="E8EDF2"/>
          </a:solidFill>
          <a:ln w="12700">
            <a:solidFill>
              <a:srgbClr val="C8D4DC"/>
            </a:solidFill>
            <a:prstDash val="solid"/>
          </a:ln>
        </p:spPr>
      </p:sp>
      <p:sp>
        <p:nvSpPr>
          <p:cNvPr id="28" name="Text 26"/>
          <p:cNvSpPr/>
          <p:nvPr/>
        </p:nvSpPr>
        <p:spPr>
          <a:xfrm>
            <a:off x="438912" y="4352544"/>
            <a:ext cx="3931920" cy="246888"/>
          </a:xfrm>
          <a:prstGeom prst="rect">
            <a:avLst/>
          </a:prstGeom>
          <a:noFill/>
          <a:ln/>
        </p:spPr>
        <p:txBody>
          <a:bodyPr wrap="square" lIns="0" tIns="0" rIns="0" bIns="0" rtlCol="0" anchor="ctr"/>
          <a:lstStyle/>
          <a:p>
            <a:pPr indent="0" marL="0">
              <a:buNone/>
            </a:pPr>
            <a:r>
              <a:rPr lang="en-US" sz="1000" b="1" dirty="0">
                <a:solidFill>
                  <a:srgbClr val="5A6E7E"/>
                </a:solidFill>
              </a:rPr>
              <a:t>Result: 73% accuracy  —  Sets the performance floor</a:t>
            </a:r>
            <a:endParaRPr lang="en-US" sz="1000" dirty="0"/>
          </a:p>
        </p:txBody>
      </p:sp>
      <p:sp>
        <p:nvSpPr>
          <p:cNvPr id="29" name="Shape 27"/>
          <p:cNvSpPr/>
          <p:nvPr/>
        </p:nvSpPr>
        <p:spPr>
          <a:xfrm>
            <a:off x="4681728" y="1389888"/>
            <a:ext cx="4114800" cy="324612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4681728" y="1389888"/>
            <a:ext cx="4114800" cy="329184"/>
          </a:xfrm>
          <a:prstGeom prst="rect">
            <a:avLst/>
          </a:prstGeom>
          <a:solidFill>
            <a:srgbClr val="1A9CB0"/>
          </a:solidFill>
          <a:ln w="12700">
            <a:solidFill>
              <a:srgbClr val="1A9CB0"/>
            </a:solidFill>
            <a:prstDash val="solid"/>
          </a:ln>
        </p:spPr>
      </p:sp>
      <p:sp>
        <p:nvSpPr>
          <p:cNvPr id="31" name="Text 29"/>
          <p:cNvSpPr/>
          <p:nvPr/>
        </p:nvSpPr>
        <p:spPr>
          <a:xfrm>
            <a:off x="4773168" y="1408176"/>
            <a:ext cx="3931920" cy="274320"/>
          </a:xfrm>
          <a:prstGeom prst="rect">
            <a:avLst/>
          </a:prstGeom>
          <a:noFill/>
          <a:ln/>
        </p:spPr>
        <p:txBody>
          <a:bodyPr wrap="square" lIns="0" tIns="0" rIns="0" bIns="0" rtlCol="0" anchor="ctr"/>
          <a:lstStyle/>
          <a:p>
            <a:pPr indent="0" marL="0">
              <a:buNone/>
            </a:pPr>
            <a:r>
              <a:rPr lang="en-US" sz="950" b="1" spc="50" kern="0" dirty="0">
                <a:solidFill>
                  <a:srgbClr val="FFFFFF"/>
                </a:solidFill>
              </a:rPr>
              <a:t>MODEL 1  —  Conv1D Token Embedding</a:t>
            </a:r>
            <a:endParaRPr lang="en-US" sz="950" dirty="0"/>
          </a:p>
        </p:txBody>
      </p:sp>
      <p:sp>
        <p:nvSpPr>
          <p:cNvPr id="32" name="Text 30"/>
          <p:cNvSpPr/>
          <p:nvPr/>
        </p:nvSpPr>
        <p:spPr>
          <a:xfrm>
            <a:off x="4828032" y="181051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How it works:</a:t>
            </a:r>
            <a:endParaRPr lang="en-US" sz="1100" dirty="0"/>
          </a:p>
        </p:txBody>
      </p:sp>
      <p:sp>
        <p:nvSpPr>
          <p:cNvPr id="33" name="Text 31"/>
          <p:cNvSpPr/>
          <p:nvPr/>
        </p:nvSpPr>
        <p:spPr>
          <a:xfrm>
            <a:off x="4828032" y="2048256"/>
            <a:ext cx="3840480" cy="530352"/>
          </a:xfrm>
          <a:prstGeom prst="rect">
            <a:avLst/>
          </a:prstGeom>
          <a:noFill/>
          <a:ln/>
        </p:spPr>
        <p:txBody>
          <a:bodyPr wrap="square" lIns="0" tIns="0" rIns="0" bIns="0" rtlCol="0" anchor="ctr"/>
          <a:lstStyle/>
          <a:p>
            <a:pPr indent="0" marL="0">
              <a:buNone/>
            </a:pPr>
            <a:r>
              <a:rPr lang="en-US" sz="1050" dirty="0">
                <a:solidFill>
                  <a:srgbClr val="1B2E3C"/>
                </a:solidFill>
              </a:rPr>
              <a:t>Each word maps to a 128-dim vector. Three parallel Conv1D filters (width 3, 5, 7) scan for short, medium, and longer phrase patterns.</a:t>
            </a:r>
            <a:endParaRPr lang="en-US" sz="1050" dirty="0"/>
          </a:p>
        </p:txBody>
      </p:sp>
      <p:sp>
        <p:nvSpPr>
          <p:cNvPr id="34" name="Text 32"/>
          <p:cNvSpPr/>
          <p:nvPr/>
        </p:nvSpPr>
        <p:spPr>
          <a:xfrm>
            <a:off x="4828032" y="2651760"/>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The improvement over M0:</a:t>
            </a:r>
            <a:endParaRPr lang="en-US" sz="1100" dirty="0"/>
          </a:p>
        </p:txBody>
      </p:sp>
      <p:sp>
        <p:nvSpPr>
          <p:cNvPr id="35" name="Text 33"/>
          <p:cNvSpPr/>
          <p:nvPr/>
        </p:nvSpPr>
        <p:spPr>
          <a:xfrm>
            <a:off x="4828032" y="2889504"/>
            <a:ext cx="3840480" cy="457200"/>
          </a:xfrm>
          <a:prstGeom prst="rect">
            <a:avLst/>
          </a:prstGeom>
          <a:noFill/>
          <a:ln/>
        </p:spPr>
        <p:txBody>
          <a:bodyPr wrap="square" lIns="0" tIns="0" rIns="0" bIns="0" rtlCol="0" anchor="ctr"/>
          <a:lstStyle/>
          <a:p>
            <a:pPr indent="0" marL="0">
              <a:buNone/>
            </a:pPr>
            <a:r>
              <a:rPr lang="en-US" sz="1050" dirty="0">
                <a:solidFill>
                  <a:srgbClr val="1B2E3C"/>
                </a:solidFill>
              </a:rPr>
              <a:t>Learns that 'patients were randomly assigned' is METHODS even without exact prior exposure — because word embeddings encode meaning.</a:t>
            </a:r>
            <a:endParaRPr lang="en-US" sz="1050" dirty="0"/>
          </a:p>
        </p:txBody>
      </p:sp>
      <p:sp>
        <p:nvSpPr>
          <p:cNvPr id="36" name="Shape 34"/>
          <p:cNvSpPr/>
          <p:nvPr/>
        </p:nvSpPr>
        <p:spPr>
          <a:xfrm>
            <a:off x="4681728" y="3419856"/>
            <a:ext cx="4114800" cy="749808"/>
          </a:xfrm>
          <a:prstGeom prst="rect">
            <a:avLst/>
          </a:prstGeom>
          <a:solidFill>
            <a:srgbClr val="1B2E3C"/>
          </a:solidFill>
          <a:ln w="12700">
            <a:solidFill>
              <a:srgbClr val="0D1F2D"/>
            </a:solidFill>
            <a:prstDash val="solid"/>
          </a:ln>
        </p:spPr>
      </p:sp>
      <p:sp>
        <p:nvSpPr>
          <p:cNvPr id="37" name="Text 35"/>
          <p:cNvSpPr/>
          <p:nvPr/>
        </p:nvSpPr>
        <p:spPr>
          <a:xfrm>
            <a:off x="4791456" y="3474720"/>
            <a:ext cx="3931920" cy="182880"/>
          </a:xfrm>
          <a:prstGeom prst="rect">
            <a:avLst/>
          </a:prstGeom>
          <a:noFill/>
          <a:ln/>
        </p:spPr>
        <p:txBody>
          <a:bodyPr wrap="square" lIns="0" tIns="0" rIns="0" bIns="0" rtlCol="0" anchor="ctr"/>
          <a:lstStyle/>
          <a:p>
            <a:pPr indent="0" marL="0">
              <a:buNone/>
            </a:pPr>
            <a:r>
              <a:rPr lang="en-US" sz="750" b="1" spc="200" kern="0" dirty="0">
                <a:solidFill>
                  <a:srgbClr val="F4A03A"/>
                </a:solidFill>
              </a:rPr>
              <a:t>TECHNICAL SPECS</a:t>
            </a:r>
            <a:endParaRPr lang="en-US" sz="750" dirty="0"/>
          </a:p>
        </p:txBody>
      </p:sp>
      <p:sp>
        <p:nvSpPr>
          <p:cNvPr id="38" name="Shape 36"/>
          <p:cNvSpPr/>
          <p:nvPr/>
        </p:nvSpPr>
        <p:spPr>
          <a:xfrm>
            <a:off x="4791456" y="3675888"/>
            <a:ext cx="1856232" cy="155448"/>
          </a:xfrm>
          <a:prstGeom prst="rect">
            <a:avLst/>
          </a:prstGeom>
          <a:solidFill>
            <a:srgbClr val="0D2A38"/>
          </a:solidFill>
          <a:ln w="12700">
            <a:solidFill>
              <a:srgbClr val="1A4060"/>
            </a:solidFill>
            <a:prstDash val="solid"/>
          </a:ln>
        </p:spPr>
      </p:sp>
      <p:sp>
        <p:nvSpPr>
          <p:cNvPr id="39" name="Text 37"/>
          <p:cNvSpPr/>
          <p:nvPr/>
        </p:nvSpPr>
        <p:spPr>
          <a:xfrm>
            <a:off x="4837176"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Epochs: 10 (early stop p=3)</a:t>
            </a:r>
            <a:endParaRPr lang="en-US" sz="750" dirty="0"/>
          </a:p>
        </p:txBody>
      </p:sp>
      <p:sp>
        <p:nvSpPr>
          <p:cNvPr id="40" name="Shape 38"/>
          <p:cNvSpPr/>
          <p:nvPr/>
        </p:nvSpPr>
        <p:spPr>
          <a:xfrm>
            <a:off x="4791456" y="3877056"/>
            <a:ext cx="1856232" cy="155448"/>
          </a:xfrm>
          <a:prstGeom prst="rect">
            <a:avLst/>
          </a:prstGeom>
          <a:solidFill>
            <a:srgbClr val="0D2A38"/>
          </a:solidFill>
          <a:ln w="12700">
            <a:solidFill>
              <a:srgbClr val="1A4060"/>
            </a:solidFill>
            <a:prstDash val="solid"/>
          </a:ln>
        </p:spPr>
      </p:sp>
      <p:sp>
        <p:nvSpPr>
          <p:cNvPr id="41" name="Text 39"/>
          <p:cNvSpPr/>
          <p:nvPr/>
        </p:nvSpPr>
        <p:spPr>
          <a:xfrm>
            <a:off x="4837176"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Optimiser: AdamW  lr=1e-3</a:t>
            </a:r>
            <a:endParaRPr lang="en-US" sz="750" dirty="0"/>
          </a:p>
        </p:txBody>
      </p:sp>
      <p:sp>
        <p:nvSpPr>
          <p:cNvPr id="42" name="Shape 40"/>
          <p:cNvSpPr/>
          <p:nvPr/>
        </p:nvSpPr>
        <p:spPr>
          <a:xfrm>
            <a:off x="4791456" y="4078224"/>
            <a:ext cx="1856232" cy="155448"/>
          </a:xfrm>
          <a:prstGeom prst="rect">
            <a:avLst/>
          </a:prstGeom>
          <a:solidFill>
            <a:srgbClr val="0D2A38"/>
          </a:solidFill>
          <a:ln w="12700">
            <a:solidFill>
              <a:srgbClr val="1A4060"/>
            </a:solidFill>
            <a:prstDash val="solid"/>
          </a:ln>
        </p:spPr>
      </p:sp>
      <p:sp>
        <p:nvSpPr>
          <p:cNvPr id="43" name="Text 41"/>
          <p:cNvSpPr/>
          <p:nvPr/>
        </p:nvSpPr>
        <p:spPr>
          <a:xfrm>
            <a:off x="4837176"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Batch size: 128</a:t>
            </a:r>
            <a:endParaRPr lang="en-US" sz="750" dirty="0"/>
          </a:p>
        </p:txBody>
      </p:sp>
      <p:sp>
        <p:nvSpPr>
          <p:cNvPr id="44" name="Shape 42"/>
          <p:cNvSpPr/>
          <p:nvPr/>
        </p:nvSpPr>
        <p:spPr>
          <a:xfrm>
            <a:off x="6757416" y="3675888"/>
            <a:ext cx="1856232" cy="155448"/>
          </a:xfrm>
          <a:prstGeom prst="rect">
            <a:avLst/>
          </a:prstGeom>
          <a:solidFill>
            <a:srgbClr val="0D2A38"/>
          </a:solidFill>
          <a:ln w="12700">
            <a:solidFill>
              <a:srgbClr val="1A4060"/>
            </a:solidFill>
            <a:prstDash val="solid"/>
          </a:ln>
        </p:spPr>
      </p:sp>
      <p:sp>
        <p:nvSpPr>
          <p:cNvPr id="45" name="Text 43"/>
          <p:cNvSpPr/>
          <p:nvPr/>
        </p:nvSpPr>
        <p:spPr>
          <a:xfrm>
            <a:off x="6803136"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Embed dim: 128</a:t>
            </a:r>
            <a:endParaRPr lang="en-US" sz="750" dirty="0"/>
          </a:p>
        </p:txBody>
      </p:sp>
      <p:sp>
        <p:nvSpPr>
          <p:cNvPr id="46" name="Shape 44"/>
          <p:cNvSpPr/>
          <p:nvPr/>
        </p:nvSpPr>
        <p:spPr>
          <a:xfrm>
            <a:off x="6757416" y="3877056"/>
            <a:ext cx="1856232" cy="155448"/>
          </a:xfrm>
          <a:prstGeom prst="rect">
            <a:avLst/>
          </a:prstGeom>
          <a:solidFill>
            <a:srgbClr val="0D2A38"/>
          </a:solidFill>
          <a:ln w="12700">
            <a:solidFill>
              <a:srgbClr val="1A4060"/>
            </a:solidFill>
            <a:prstDash val="solid"/>
          </a:ln>
        </p:spPr>
      </p:sp>
      <p:sp>
        <p:nvSpPr>
          <p:cNvPr id="47" name="Text 45"/>
          <p:cNvSpPr/>
          <p:nvPr/>
        </p:nvSpPr>
        <p:spPr>
          <a:xfrm>
            <a:off x="6803136"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Kernels: 3×(3,5,7)×128 filters</a:t>
            </a:r>
            <a:endParaRPr lang="en-US" sz="750" dirty="0"/>
          </a:p>
        </p:txBody>
      </p:sp>
      <p:sp>
        <p:nvSpPr>
          <p:cNvPr id="48" name="Shape 46"/>
          <p:cNvSpPr/>
          <p:nvPr/>
        </p:nvSpPr>
        <p:spPr>
          <a:xfrm>
            <a:off x="6757416" y="4078224"/>
            <a:ext cx="1856232" cy="155448"/>
          </a:xfrm>
          <a:prstGeom prst="rect">
            <a:avLst/>
          </a:prstGeom>
          <a:solidFill>
            <a:srgbClr val="0D2A38"/>
          </a:solidFill>
          <a:ln w="12700">
            <a:solidFill>
              <a:srgbClr val="1A4060"/>
            </a:solidFill>
            <a:prstDash val="solid"/>
          </a:ln>
        </p:spPr>
      </p:sp>
      <p:sp>
        <p:nvSpPr>
          <p:cNvPr id="49" name="Text 47"/>
          <p:cNvSpPr/>
          <p:nvPr/>
        </p:nvSpPr>
        <p:spPr>
          <a:xfrm>
            <a:off x="6803136"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Seq length: 55 tokens</a:t>
            </a:r>
            <a:endParaRPr lang="en-US" sz="750" dirty="0"/>
          </a:p>
        </p:txBody>
      </p:sp>
      <p:sp>
        <p:nvSpPr>
          <p:cNvPr id="50" name="Shape 48"/>
          <p:cNvSpPr/>
          <p:nvPr/>
        </p:nvSpPr>
        <p:spPr>
          <a:xfrm>
            <a:off x="4681728" y="4315968"/>
            <a:ext cx="4114800" cy="320040"/>
          </a:xfrm>
          <a:prstGeom prst="rect">
            <a:avLst/>
          </a:prstGeom>
          <a:solidFill>
            <a:srgbClr val="E6F2F6"/>
          </a:solidFill>
          <a:ln w="12700">
            <a:solidFill>
              <a:srgbClr val="A0CCDA"/>
            </a:solidFill>
            <a:prstDash val="solid"/>
          </a:ln>
        </p:spPr>
      </p:sp>
      <p:sp>
        <p:nvSpPr>
          <p:cNvPr id="51" name="Text 49"/>
          <p:cNvSpPr/>
          <p:nvPr/>
        </p:nvSpPr>
        <p:spPr>
          <a:xfrm>
            <a:off x="4773168" y="4352544"/>
            <a:ext cx="3931920" cy="246888"/>
          </a:xfrm>
          <a:prstGeom prst="rect">
            <a:avLst/>
          </a:prstGeom>
          <a:noFill/>
          <a:ln/>
        </p:spPr>
        <p:txBody>
          <a:bodyPr wrap="square" lIns="0" tIns="0" rIns="0" bIns="0" rtlCol="0" anchor="ctr"/>
          <a:lstStyle/>
          <a:p>
            <a:pPr indent="0" marL="0">
              <a:buNone/>
            </a:pPr>
            <a:r>
              <a:rPr lang="en-US" sz="1000" b="1" dirty="0">
                <a:solidFill>
                  <a:srgbClr val="0A6E8A"/>
                </a:solidFill>
              </a:rPr>
              <a:t>Result: 81% accuracy  —  +8 points over baseline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APPROACH — MODELS 2 &amp; 3</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Pretrained Knowledge vs Character-Level Robustness</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   ·   M2: ~85%  ·  M3: ~79%</a:t>
            </a:r>
            <a:endParaRPr lang="en-US" sz="850" dirty="0"/>
          </a:p>
        </p:txBody>
      </p:sp>
      <p:sp>
        <p:nvSpPr>
          <p:cNvPr id="8" name="Shape 6"/>
          <p:cNvSpPr/>
          <p:nvPr/>
        </p:nvSpPr>
        <p:spPr>
          <a:xfrm>
            <a:off x="347472" y="1389888"/>
            <a:ext cx="4114800" cy="324612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47472" y="1389888"/>
            <a:ext cx="4114800" cy="329184"/>
          </a:xfrm>
          <a:prstGeom prst="rect">
            <a:avLst/>
          </a:prstGeom>
          <a:solidFill>
            <a:srgbClr val="0A6E8A"/>
          </a:solidFill>
          <a:ln w="12700">
            <a:solidFill>
              <a:srgbClr val="0A6E8A"/>
            </a:solidFill>
            <a:prstDash val="solid"/>
          </a:ln>
        </p:spPr>
      </p:sp>
      <p:sp>
        <p:nvSpPr>
          <p:cNvPr id="10" name="Text 8"/>
          <p:cNvSpPr/>
          <p:nvPr/>
        </p:nvSpPr>
        <p:spPr>
          <a:xfrm>
            <a:off x="438912" y="1408176"/>
            <a:ext cx="3931920" cy="274320"/>
          </a:xfrm>
          <a:prstGeom prst="rect">
            <a:avLst/>
          </a:prstGeom>
          <a:noFill/>
          <a:ln/>
        </p:spPr>
        <p:txBody>
          <a:bodyPr wrap="square" lIns="0" tIns="0" rIns="0" bIns="0" rtlCol="0" anchor="ctr"/>
          <a:lstStyle/>
          <a:p>
            <a:pPr indent="0" marL="0">
              <a:buNone/>
            </a:pPr>
            <a:r>
              <a:rPr lang="en-US" sz="950" b="1" spc="50" kern="0" dirty="0">
                <a:solidFill>
                  <a:srgbClr val="FFFFFF"/>
                </a:solidFill>
              </a:rPr>
              <a:t>MODEL 2  —  MiniLM Transfer Learning</a:t>
            </a:r>
            <a:endParaRPr lang="en-US" sz="950" dirty="0"/>
          </a:p>
        </p:txBody>
      </p:sp>
      <p:sp>
        <p:nvSpPr>
          <p:cNvPr id="11" name="Text 9"/>
          <p:cNvSpPr/>
          <p:nvPr/>
        </p:nvSpPr>
        <p:spPr>
          <a:xfrm>
            <a:off x="502920" y="181051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How it works:</a:t>
            </a:r>
            <a:endParaRPr lang="en-US" sz="1100" dirty="0"/>
          </a:p>
        </p:txBody>
      </p:sp>
      <p:sp>
        <p:nvSpPr>
          <p:cNvPr id="12" name="Text 10"/>
          <p:cNvSpPr/>
          <p:nvPr/>
        </p:nvSpPr>
        <p:spPr>
          <a:xfrm>
            <a:off x="502920" y="2048256"/>
            <a:ext cx="3840480" cy="566928"/>
          </a:xfrm>
          <a:prstGeom prst="rect">
            <a:avLst/>
          </a:prstGeom>
          <a:noFill/>
          <a:ln/>
        </p:spPr>
        <p:txBody>
          <a:bodyPr wrap="square" lIns="0" tIns="0" rIns="0" bIns="0" rtlCol="0" anchor="ctr"/>
          <a:lstStyle/>
          <a:p>
            <a:pPr indent="0" marL="0">
              <a:buNone/>
            </a:pPr>
            <a:r>
              <a:rPr lang="en-US" sz="1050" dirty="0">
                <a:solidFill>
                  <a:srgbClr val="1B2E3C"/>
                </a:solidFill>
              </a:rPr>
              <a:t>Uses all-MiniLM-L6-v2 (pretrained on millions of sentence pairs) to produce a 384-dim semantic fingerprint. Only the classification head is trained.</a:t>
            </a:r>
            <a:endParaRPr lang="en-US" sz="1050" dirty="0"/>
          </a:p>
        </p:txBody>
      </p:sp>
      <p:sp>
        <p:nvSpPr>
          <p:cNvPr id="13" name="Text 11"/>
          <p:cNvSpPr/>
          <p:nvPr/>
        </p:nvSpPr>
        <p:spPr>
          <a:xfrm>
            <a:off x="502920" y="267919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The key insight:</a:t>
            </a:r>
            <a:endParaRPr lang="en-US" sz="1100" dirty="0"/>
          </a:p>
        </p:txBody>
      </p:sp>
      <p:sp>
        <p:nvSpPr>
          <p:cNvPr id="14" name="Text 12"/>
          <p:cNvSpPr/>
          <p:nvPr/>
        </p:nvSpPr>
        <p:spPr>
          <a:xfrm>
            <a:off x="502920" y="2916936"/>
            <a:ext cx="3840480" cy="457200"/>
          </a:xfrm>
          <a:prstGeom prst="rect">
            <a:avLst/>
          </a:prstGeom>
          <a:noFill/>
          <a:ln/>
        </p:spPr>
        <p:txBody>
          <a:bodyPr wrap="square" lIns="0" tIns="0" rIns="0" bIns="0" rtlCol="0" anchor="ctr"/>
          <a:lstStyle/>
          <a:p>
            <a:pPr indent="0" marL="0">
              <a:buNone/>
            </a:pPr>
            <a:r>
              <a:rPr lang="en-US" sz="1050" dirty="0">
                <a:solidFill>
                  <a:srgbClr val="1B2E3C"/>
                </a:solidFill>
              </a:rPr>
              <a:t>The encoder already knows 'participants were enrolled' equals 'subjects were recruited' — before seeing a single medical abstract.</a:t>
            </a:r>
            <a:endParaRPr lang="en-US" sz="1050" dirty="0"/>
          </a:p>
        </p:txBody>
      </p:sp>
      <p:sp>
        <p:nvSpPr>
          <p:cNvPr id="15" name="Shape 13"/>
          <p:cNvSpPr/>
          <p:nvPr/>
        </p:nvSpPr>
        <p:spPr>
          <a:xfrm>
            <a:off x="347472" y="3419856"/>
            <a:ext cx="4114800" cy="749808"/>
          </a:xfrm>
          <a:prstGeom prst="rect">
            <a:avLst/>
          </a:prstGeom>
          <a:solidFill>
            <a:srgbClr val="1B2E3C"/>
          </a:solidFill>
          <a:ln w="12700">
            <a:solidFill>
              <a:srgbClr val="0D1F2D"/>
            </a:solidFill>
            <a:prstDash val="solid"/>
          </a:ln>
        </p:spPr>
      </p:sp>
      <p:sp>
        <p:nvSpPr>
          <p:cNvPr id="16" name="Text 14"/>
          <p:cNvSpPr/>
          <p:nvPr/>
        </p:nvSpPr>
        <p:spPr>
          <a:xfrm>
            <a:off x="457200" y="3474720"/>
            <a:ext cx="3931920" cy="182880"/>
          </a:xfrm>
          <a:prstGeom prst="rect">
            <a:avLst/>
          </a:prstGeom>
          <a:noFill/>
          <a:ln/>
        </p:spPr>
        <p:txBody>
          <a:bodyPr wrap="square" lIns="0" tIns="0" rIns="0" bIns="0" rtlCol="0" anchor="ctr"/>
          <a:lstStyle/>
          <a:p>
            <a:pPr indent="0" marL="0">
              <a:buNone/>
            </a:pPr>
            <a:r>
              <a:rPr lang="en-US" sz="750" b="1" spc="200" kern="0" dirty="0">
                <a:solidFill>
                  <a:srgbClr val="F4A03A"/>
                </a:solidFill>
              </a:rPr>
              <a:t>TECHNICAL SPECS</a:t>
            </a:r>
            <a:endParaRPr lang="en-US" sz="750" dirty="0"/>
          </a:p>
        </p:txBody>
      </p:sp>
      <p:sp>
        <p:nvSpPr>
          <p:cNvPr id="17" name="Shape 15"/>
          <p:cNvSpPr/>
          <p:nvPr/>
        </p:nvSpPr>
        <p:spPr>
          <a:xfrm>
            <a:off x="457200" y="3675888"/>
            <a:ext cx="1856232" cy="155448"/>
          </a:xfrm>
          <a:prstGeom prst="rect">
            <a:avLst/>
          </a:prstGeom>
          <a:solidFill>
            <a:srgbClr val="0D2A38"/>
          </a:solidFill>
          <a:ln w="12700">
            <a:solidFill>
              <a:srgbClr val="1A4060"/>
            </a:solidFill>
            <a:prstDash val="solid"/>
          </a:ln>
        </p:spPr>
      </p:sp>
      <p:sp>
        <p:nvSpPr>
          <p:cNvPr id="18" name="Text 16"/>
          <p:cNvSpPr/>
          <p:nvPr/>
        </p:nvSpPr>
        <p:spPr>
          <a:xfrm>
            <a:off x="502920"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Epochs: 10 (early stop p=5)</a:t>
            </a:r>
            <a:endParaRPr lang="en-US" sz="750" dirty="0"/>
          </a:p>
        </p:txBody>
      </p:sp>
      <p:sp>
        <p:nvSpPr>
          <p:cNvPr id="19" name="Shape 17"/>
          <p:cNvSpPr/>
          <p:nvPr/>
        </p:nvSpPr>
        <p:spPr>
          <a:xfrm>
            <a:off x="457200" y="3877056"/>
            <a:ext cx="1856232" cy="155448"/>
          </a:xfrm>
          <a:prstGeom prst="rect">
            <a:avLst/>
          </a:prstGeom>
          <a:solidFill>
            <a:srgbClr val="0D2A38"/>
          </a:solidFill>
          <a:ln w="12700">
            <a:solidFill>
              <a:srgbClr val="1A4060"/>
            </a:solidFill>
            <a:prstDash val="solid"/>
          </a:ln>
        </p:spPr>
      </p:sp>
      <p:sp>
        <p:nvSpPr>
          <p:cNvPr id="20" name="Text 18"/>
          <p:cNvSpPr/>
          <p:nvPr/>
        </p:nvSpPr>
        <p:spPr>
          <a:xfrm>
            <a:off x="502920"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Optimiser: AdamW  lr=1e-3</a:t>
            </a:r>
            <a:endParaRPr lang="en-US" sz="750" dirty="0"/>
          </a:p>
        </p:txBody>
      </p:sp>
      <p:sp>
        <p:nvSpPr>
          <p:cNvPr id="21" name="Shape 19"/>
          <p:cNvSpPr/>
          <p:nvPr/>
        </p:nvSpPr>
        <p:spPr>
          <a:xfrm>
            <a:off x="457200" y="4078224"/>
            <a:ext cx="1856232" cy="155448"/>
          </a:xfrm>
          <a:prstGeom prst="rect">
            <a:avLst/>
          </a:prstGeom>
          <a:solidFill>
            <a:srgbClr val="0D2A38"/>
          </a:solidFill>
          <a:ln w="12700">
            <a:solidFill>
              <a:srgbClr val="1A4060"/>
            </a:solidFill>
            <a:prstDash val="solid"/>
          </a:ln>
        </p:spPr>
      </p:sp>
      <p:sp>
        <p:nvSpPr>
          <p:cNvPr id="22" name="Text 20"/>
          <p:cNvSpPr/>
          <p:nvPr/>
        </p:nvSpPr>
        <p:spPr>
          <a:xfrm>
            <a:off x="502920"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Batch size: 128</a:t>
            </a:r>
            <a:endParaRPr lang="en-US" sz="750" dirty="0"/>
          </a:p>
        </p:txBody>
      </p:sp>
      <p:sp>
        <p:nvSpPr>
          <p:cNvPr id="23" name="Shape 21"/>
          <p:cNvSpPr/>
          <p:nvPr/>
        </p:nvSpPr>
        <p:spPr>
          <a:xfrm>
            <a:off x="2423160" y="3675888"/>
            <a:ext cx="1856232" cy="155448"/>
          </a:xfrm>
          <a:prstGeom prst="rect">
            <a:avLst/>
          </a:prstGeom>
          <a:solidFill>
            <a:srgbClr val="0D2A38"/>
          </a:solidFill>
          <a:ln w="12700">
            <a:solidFill>
              <a:srgbClr val="1A4060"/>
            </a:solidFill>
            <a:prstDash val="solid"/>
          </a:ln>
        </p:spPr>
      </p:sp>
      <p:sp>
        <p:nvSpPr>
          <p:cNvPr id="24" name="Text 22"/>
          <p:cNvSpPr/>
          <p:nvPr/>
        </p:nvSpPr>
        <p:spPr>
          <a:xfrm>
            <a:off x="2468880"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Embed dim: 384 (frozen encoder)</a:t>
            </a:r>
            <a:endParaRPr lang="en-US" sz="750" dirty="0"/>
          </a:p>
        </p:txBody>
      </p:sp>
      <p:sp>
        <p:nvSpPr>
          <p:cNvPr id="25" name="Shape 23"/>
          <p:cNvSpPr/>
          <p:nvPr/>
        </p:nvSpPr>
        <p:spPr>
          <a:xfrm>
            <a:off x="2423160" y="3877056"/>
            <a:ext cx="1856232" cy="155448"/>
          </a:xfrm>
          <a:prstGeom prst="rect">
            <a:avLst/>
          </a:prstGeom>
          <a:solidFill>
            <a:srgbClr val="0D2A38"/>
          </a:solidFill>
          <a:ln w="12700">
            <a:solidFill>
              <a:srgbClr val="1A4060"/>
            </a:solidFill>
            <a:prstDash val="solid"/>
          </a:ln>
        </p:spPr>
      </p:sp>
      <p:sp>
        <p:nvSpPr>
          <p:cNvPr id="26" name="Text 24"/>
          <p:cNvSpPr/>
          <p:nvPr/>
        </p:nvSpPr>
        <p:spPr>
          <a:xfrm>
            <a:off x="2468880"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Head: Dense(256)→Dense(128)→5</a:t>
            </a:r>
            <a:endParaRPr lang="en-US" sz="750" dirty="0"/>
          </a:p>
        </p:txBody>
      </p:sp>
      <p:sp>
        <p:nvSpPr>
          <p:cNvPr id="27" name="Shape 25"/>
          <p:cNvSpPr/>
          <p:nvPr/>
        </p:nvSpPr>
        <p:spPr>
          <a:xfrm>
            <a:off x="347472" y="4315968"/>
            <a:ext cx="4114800" cy="320040"/>
          </a:xfrm>
          <a:prstGeom prst="rect">
            <a:avLst/>
          </a:prstGeom>
          <a:solidFill>
            <a:srgbClr val="E6F2F6"/>
          </a:solidFill>
          <a:ln w="12700">
            <a:solidFill>
              <a:srgbClr val="A0CCDA"/>
            </a:solidFill>
            <a:prstDash val="solid"/>
          </a:ln>
        </p:spPr>
      </p:sp>
      <p:sp>
        <p:nvSpPr>
          <p:cNvPr id="28" name="Text 26"/>
          <p:cNvSpPr/>
          <p:nvPr/>
        </p:nvSpPr>
        <p:spPr>
          <a:xfrm>
            <a:off x="438912" y="4352544"/>
            <a:ext cx="3931920" cy="246888"/>
          </a:xfrm>
          <a:prstGeom prst="rect">
            <a:avLst/>
          </a:prstGeom>
          <a:noFill/>
          <a:ln/>
        </p:spPr>
        <p:txBody>
          <a:bodyPr wrap="square" lIns="0" tIns="0" rIns="0" bIns="0" rtlCol="0" anchor="ctr"/>
          <a:lstStyle/>
          <a:p>
            <a:pPr indent="0" marL="0">
              <a:buNone/>
            </a:pPr>
            <a:r>
              <a:rPr lang="en-US" sz="1000" b="1" dirty="0">
                <a:solidFill>
                  <a:srgbClr val="0A6E8A"/>
                </a:solidFill>
              </a:rPr>
              <a:t>Result: 85% accuracy  —  Best without full fine-tuning</a:t>
            </a:r>
            <a:endParaRPr lang="en-US" sz="1000" dirty="0"/>
          </a:p>
        </p:txBody>
      </p:sp>
      <p:sp>
        <p:nvSpPr>
          <p:cNvPr id="29" name="Shape 27"/>
          <p:cNvSpPr/>
          <p:nvPr/>
        </p:nvSpPr>
        <p:spPr>
          <a:xfrm>
            <a:off x="4681728" y="1389888"/>
            <a:ext cx="4114800" cy="3246120"/>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30" name="Shape 28"/>
          <p:cNvSpPr/>
          <p:nvPr/>
        </p:nvSpPr>
        <p:spPr>
          <a:xfrm>
            <a:off x="4681728" y="1389888"/>
            <a:ext cx="4114800" cy="329184"/>
          </a:xfrm>
          <a:prstGeom prst="rect">
            <a:avLst/>
          </a:prstGeom>
          <a:solidFill>
            <a:srgbClr val="1A7A94"/>
          </a:solidFill>
          <a:ln w="12700">
            <a:solidFill>
              <a:srgbClr val="1A7A94"/>
            </a:solidFill>
            <a:prstDash val="solid"/>
          </a:ln>
        </p:spPr>
      </p:sp>
      <p:sp>
        <p:nvSpPr>
          <p:cNvPr id="31" name="Text 29"/>
          <p:cNvSpPr/>
          <p:nvPr/>
        </p:nvSpPr>
        <p:spPr>
          <a:xfrm>
            <a:off x="4773168" y="1408176"/>
            <a:ext cx="3931920" cy="274320"/>
          </a:xfrm>
          <a:prstGeom prst="rect">
            <a:avLst/>
          </a:prstGeom>
          <a:noFill/>
          <a:ln/>
        </p:spPr>
        <p:txBody>
          <a:bodyPr wrap="square" lIns="0" tIns="0" rIns="0" bIns="0" rtlCol="0" anchor="ctr"/>
          <a:lstStyle/>
          <a:p>
            <a:pPr indent="0" marL="0">
              <a:buNone/>
            </a:pPr>
            <a:r>
              <a:rPr lang="en-US" sz="950" b="1" spc="50" kern="0" dirty="0">
                <a:solidFill>
                  <a:srgbClr val="FFFFFF"/>
                </a:solidFill>
              </a:rPr>
              <a:t>MODEL 3  —  Conv1D Character Embedding</a:t>
            </a:r>
            <a:endParaRPr lang="en-US" sz="950" dirty="0"/>
          </a:p>
        </p:txBody>
      </p:sp>
      <p:sp>
        <p:nvSpPr>
          <p:cNvPr id="32" name="Text 30"/>
          <p:cNvSpPr/>
          <p:nvPr/>
        </p:nvSpPr>
        <p:spPr>
          <a:xfrm>
            <a:off x="4828032" y="181051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How it works:</a:t>
            </a:r>
            <a:endParaRPr lang="en-US" sz="1100" dirty="0"/>
          </a:p>
        </p:txBody>
      </p:sp>
      <p:sp>
        <p:nvSpPr>
          <p:cNvPr id="33" name="Text 31"/>
          <p:cNvSpPr/>
          <p:nvPr/>
        </p:nvSpPr>
        <p:spPr>
          <a:xfrm>
            <a:off x="4828032" y="2048256"/>
            <a:ext cx="3840480" cy="566928"/>
          </a:xfrm>
          <a:prstGeom prst="rect">
            <a:avLst/>
          </a:prstGeom>
          <a:noFill/>
          <a:ln/>
        </p:spPr>
        <p:txBody>
          <a:bodyPr wrap="square" lIns="0" tIns="0" rIns="0" bIns="0" rtlCol="0" anchor="ctr"/>
          <a:lstStyle/>
          <a:p>
            <a:pPr indent="0" marL="0">
              <a:buNone/>
            </a:pPr>
            <a:r>
              <a:rPr lang="en-US" sz="1050" dirty="0">
                <a:solidFill>
                  <a:srgbClr val="1B2E3C"/>
                </a:solidFill>
              </a:rPr>
              <a:t>Reads individual characters instead of words. Each sentence becomes a 300-character sequence. Five convolution filters scan for character-level patterns.</a:t>
            </a:r>
            <a:endParaRPr lang="en-US" sz="1050" dirty="0"/>
          </a:p>
        </p:txBody>
      </p:sp>
      <p:sp>
        <p:nvSpPr>
          <p:cNvPr id="34" name="Text 32"/>
          <p:cNvSpPr/>
          <p:nvPr/>
        </p:nvSpPr>
        <p:spPr>
          <a:xfrm>
            <a:off x="4828032" y="2679192"/>
            <a:ext cx="3840480" cy="237744"/>
          </a:xfrm>
          <a:prstGeom prst="rect">
            <a:avLst/>
          </a:prstGeom>
          <a:noFill/>
          <a:ln/>
        </p:spPr>
        <p:txBody>
          <a:bodyPr wrap="square" lIns="0" tIns="0" rIns="0" bIns="0" rtlCol="0" anchor="ctr"/>
          <a:lstStyle/>
          <a:p>
            <a:pPr indent="0" marL="0">
              <a:buNone/>
            </a:pPr>
            <a:r>
              <a:rPr lang="en-US" sz="1100" b="1" dirty="0">
                <a:solidFill>
                  <a:srgbClr val="0A6E8A"/>
                </a:solidFill>
              </a:rPr>
              <a:t>Why this matters:</a:t>
            </a:r>
            <a:endParaRPr lang="en-US" sz="1100" dirty="0"/>
          </a:p>
        </p:txBody>
      </p:sp>
      <p:sp>
        <p:nvSpPr>
          <p:cNvPr id="35" name="Text 33"/>
          <p:cNvSpPr/>
          <p:nvPr/>
        </p:nvSpPr>
        <p:spPr>
          <a:xfrm>
            <a:off x="4828032" y="2916936"/>
            <a:ext cx="3840480" cy="457200"/>
          </a:xfrm>
          <a:prstGeom prst="rect">
            <a:avLst/>
          </a:prstGeom>
          <a:noFill/>
          <a:ln/>
        </p:spPr>
        <p:txBody>
          <a:bodyPr wrap="square" lIns="0" tIns="0" rIns="0" bIns="0" rtlCol="0" anchor="ctr"/>
          <a:lstStyle/>
          <a:p>
            <a:pPr indent="0" marL="0">
              <a:buNone/>
            </a:pPr>
            <a:r>
              <a:rPr lang="en-US" sz="1050" dirty="0">
                <a:solidFill>
                  <a:srgbClr val="1B2E3C"/>
                </a:solidFill>
              </a:rPr>
              <a:t>Abbreviations like IL-6, hsCRP, TNF-α don't exist in word vocabularies. A word model marks them unknown. A char model reads the letters directly.</a:t>
            </a:r>
            <a:endParaRPr lang="en-US" sz="1050" dirty="0"/>
          </a:p>
        </p:txBody>
      </p:sp>
      <p:sp>
        <p:nvSpPr>
          <p:cNvPr id="36" name="Shape 34"/>
          <p:cNvSpPr/>
          <p:nvPr/>
        </p:nvSpPr>
        <p:spPr>
          <a:xfrm>
            <a:off x="4681728" y="3419856"/>
            <a:ext cx="4114800" cy="749808"/>
          </a:xfrm>
          <a:prstGeom prst="rect">
            <a:avLst/>
          </a:prstGeom>
          <a:solidFill>
            <a:srgbClr val="1B2E3C"/>
          </a:solidFill>
          <a:ln w="12700">
            <a:solidFill>
              <a:srgbClr val="0D1F2D"/>
            </a:solidFill>
            <a:prstDash val="solid"/>
          </a:ln>
        </p:spPr>
      </p:sp>
      <p:sp>
        <p:nvSpPr>
          <p:cNvPr id="37" name="Text 35"/>
          <p:cNvSpPr/>
          <p:nvPr/>
        </p:nvSpPr>
        <p:spPr>
          <a:xfrm>
            <a:off x="4791456" y="3474720"/>
            <a:ext cx="3931920" cy="182880"/>
          </a:xfrm>
          <a:prstGeom prst="rect">
            <a:avLst/>
          </a:prstGeom>
          <a:noFill/>
          <a:ln/>
        </p:spPr>
        <p:txBody>
          <a:bodyPr wrap="square" lIns="0" tIns="0" rIns="0" bIns="0" rtlCol="0" anchor="ctr"/>
          <a:lstStyle/>
          <a:p>
            <a:pPr indent="0" marL="0">
              <a:buNone/>
            </a:pPr>
            <a:r>
              <a:rPr lang="en-US" sz="750" b="1" spc="200" kern="0" dirty="0">
                <a:solidFill>
                  <a:srgbClr val="F4A03A"/>
                </a:solidFill>
              </a:rPr>
              <a:t>TECHNICAL SPECS</a:t>
            </a:r>
            <a:endParaRPr lang="en-US" sz="750" dirty="0"/>
          </a:p>
        </p:txBody>
      </p:sp>
      <p:sp>
        <p:nvSpPr>
          <p:cNvPr id="38" name="Shape 36"/>
          <p:cNvSpPr/>
          <p:nvPr/>
        </p:nvSpPr>
        <p:spPr>
          <a:xfrm>
            <a:off x="4791456" y="3675888"/>
            <a:ext cx="1856232" cy="155448"/>
          </a:xfrm>
          <a:prstGeom prst="rect">
            <a:avLst/>
          </a:prstGeom>
          <a:solidFill>
            <a:srgbClr val="0D2A38"/>
          </a:solidFill>
          <a:ln w="12700">
            <a:solidFill>
              <a:srgbClr val="1A4060"/>
            </a:solidFill>
            <a:prstDash val="solid"/>
          </a:ln>
        </p:spPr>
      </p:sp>
      <p:sp>
        <p:nvSpPr>
          <p:cNvPr id="39" name="Text 37"/>
          <p:cNvSpPr/>
          <p:nvPr/>
        </p:nvSpPr>
        <p:spPr>
          <a:xfrm>
            <a:off x="4837176"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Epochs: 10 (early stop p=3)</a:t>
            </a:r>
            <a:endParaRPr lang="en-US" sz="750" dirty="0"/>
          </a:p>
        </p:txBody>
      </p:sp>
      <p:sp>
        <p:nvSpPr>
          <p:cNvPr id="40" name="Shape 38"/>
          <p:cNvSpPr/>
          <p:nvPr/>
        </p:nvSpPr>
        <p:spPr>
          <a:xfrm>
            <a:off x="4791456" y="3877056"/>
            <a:ext cx="1856232" cy="155448"/>
          </a:xfrm>
          <a:prstGeom prst="rect">
            <a:avLst/>
          </a:prstGeom>
          <a:solidFill>
            <a:srgbClr val="0D2A38"/>
          </a:solidFill>
          <a:ln w="12700">
            <a:solidFill>
              <a:srgbClr val="1A4060"/>
            </a:solidFill>
            <a:prstDash val="solid"/>
          </a:ln>
        </p:spPr>
      </p:sp>
      <p:sp>
        <p:nvSpPr>
          <p:cNvPr id="41" name="Text 39"/>
          <p:cNvSpPr/>
          <p:nvPr/>
        </p:nvSpPr>
        <p:spPr>
          <a:xfrm>
            <a:off x="4837176"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Optimiser: AdamW  lr=1e-3</a:t>
            </a:r>
            <a:endParaRPr lang="en-US" sz="750" dirty="0"/>
          </a:p>
        </p:txBody>
      </p:sp>
      <p:sp>
        <p:nvSpPr>
          <p:cNvPr id="42" name="Shape 40"/>
          <p:cNvSpPr/>
          <p:nvPr/>
        </p:nvSpPr>
        <p:spPr>
          <a:xfrm>
            <a:off x="4791456" y="4078224"/>
            <a:ext cx="1856232" cy="155448"/>
          </a:xfrm>
          <a:prstGeom prst="rect">
            <a:avLst/>
          </a:prstGeom>
          <a:solidFill>
            <a:srgbClr val="0D2A38"/>
          </a:solidFill>
          <a:ln w="12700">
            <a:solidFill>
              <a:srgbClr val="1A4060"/>
            </a:solidFill>
            <a:prstDash val="solid"/>
          </a:ln>
        </p:spPr>
      </p:sp>
      <p:sp>
        <p:nvSpPr>
          <p:cNvPr id="43" name="Text 41"/>
          <p:cNvSpPr/>
          <p:nvPr/>
        </p:nvSpPr>
        <p:spPr>
          <a:xfrm>
            <a:off x="4837176"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Batch size: 128</a:t>
            </a:r>
            <a:endParaRPr lang="en-US" sz="750" dirty="0"/>
          </a:p>
        </p:txBody>
      </p:sp>
      <p:sp>
        <p:nvSpPr>
          <p:cNvPr id="44" name="Shape 42"/>
          <p:cNvSpPr/>
          <p:nvPr/>
        </p:nvSpPr>
        <p:spPr>
          <a:xfrm>
            <a:off x="6757416" y="3675888"/>
            <a:ext cx="1856232" cy="155448"/>
          </a:xfrm>
          <a:prstGeom prst="rect">
            <a:avLst/>
          </a:prstGeom>
          <a:solidFill>
            <a:srgbClr val="0D2A38"/>
          </a:solidFill>
          <a:ln w="12700">
            <a:solidFill>
              <a:srgbClr val="1A4060"/>
            </a:solidFill>
            <a:prstDash val="solid"/>
          </a:ln>
        </p:spPr>
      </p:sp>
      <p:sp>
        <p:nvSpPr>
          <p:cNvPr id="45" name="Text 43"/>
          <p:cNvSpPr/>
          <p:nvPr/>
        </p:nvSpPr>
        <p:spPr>
          <a:xfrm>
            <a:off x="6803136" y="3694176"/>
            <a:ext cx="1783080" cy="128016"/>
          </a:xfrm>
          <a:prstGeom prst="rect">
            <a:avLst/>
          </a:prstGeom>
          <a:noFill/>
          <a:ln/>
        </p:spPr>
        <p:txBody>
          <a:bodyPr wrap="square" lIns="0" tIns="0" rIns="0" bIns="0" rtlCol="0" anchor="ctr"/>
          <a:lstStyle/>
          <a:p>
            <a:pPr indent="0" marL="0">
              <a:buNone/>
            </a:pPr>
            <a:r>
              <a:rPr lang="en-US" sz="750" dirty="0">
                <a:solidFill>
                  <a:srgbClr val="9FCFE0"/>
                </a:solidFill>
              </a:rPr>
              <a:t>Char embed dim: 64</a:t>
            </a:r>
            <a:endParaRPr lang="en-US" sz="750" dirty="0"/>
          </a:p>
        </p:txBody>
      </p:sp>
      <p:sp>
        <p:nvSpPr>
          <p:cNvPr id="46" name="Shape 44"/>
          <p:cNvSpPr/>
          <p:nvPr/>
        </p:nvSpPr>
        <p:spPr>
          <a:xfrm>
            <a:off x="6757416" y="3877056"/>
            <a:ext cx="1856232" cy="155448"/>
          </a:xfrm>
          <a:prstGeom prst="rect">
            <a:avLst/>
          </a:prstGeom>
          <a:solidFill>
            <a:srgbClr val="0D2A38"/>
          </a:solidFill>
          <a:ln w="12700">
            <a:solidFill>
              <a:srgbClr val="1A4060"/>
            </a:solidFill>
            <a:prstDash val="solid"/>
          </a:ln>
        </p:spPr>
      </p:sp>
      <p:sp>
        <p:nvSpPr>
          <p:cNvPr id="47" name="Text 45"/>
          <p:cNvSpPr/>
          <p:nvPr/>
        </p:nvSpPr>
        <p:spPr>
          <a:xfrm>
            <a:off x="6803136" y="3895344"/>
            <a:ext cx="1783080" cy="128016"/>
          </a:xfrm>
          <a:prstGeom prst="rect">
            <a:avLst/>
          </a:prstGeom>
          <a:noFill/>
          <a:ln/>
        </p:spPr>
        <p:txBody>
          <a:bodyPr wrap="square" lIns="0" tIns="0" rIns="0" bIns="0" rtlCol="0" anchor="ctr"/>
          <a:lstStyle/>
          <a:p>
            <a:pPr indent="0" marL="0">
              <a:buNone/>
            </a:pPr>
            <a:r>
              <a:rPr lang="en-US" sz="750" dirty="0">
                <a:solidFill>
                  <a:srgbClr val="9FCFE0"/>
                </a:solidFill>
              </a:rPr>
              <a:t>Kernels: 5×(2,3,4,5,6)×128</a:t>
            </a:r>
            <a:endParaRPr lang="en-US" sz="750" dirty="0"/>
          </a:p>
        </p:txBody>
      </p:sp>
      <p:sp>
        <p:nvSpPr>
          <p:cNvPr id="48" name="Shape 46"/>
          <p:cNvSpPr/>
          <p:nvPr/>
        </p:nvSpPr>
        <p:spPr>
          <a:xfrm>
            <a:off x="6757416" y="4078224"/>
            <a:ext cx="1856232" cy="155448"/>
          </a:xfrm>
          <a:prstGeom prst="rect">
            <a:avLst/>
          </a:prstGeom>
          <a:solidFill>
            <a:srgbClr val="0D2A38"/>
          </a:solidFill>
          <a:ln w="12700">
            <a:solidFill>
              <a:srgbClr val="1A4060"/>
            </a:solidFill>
            <a:prstDash val="solid"/>
          </a:ln>
        </p:spPr>
      </p:sp>
      <p:sp>
        <p:nvSpPr>
          <p:cNvPr id="49" name="Text 47"/>
          <p:cNvSpPr/>
          <p:nvPr/>
        </p:nvSpPr>
        <p:spPr>
          <a:xfrm>
            <a:off x="6803136" y="4096512"/>
            <a:ext cx="1783080" cy="128016"/>
          </a:xfrm>
          <a:prstGeom prst="rect">
            <a:avLst/>
          </a:prstGeom>
          <a:noFill/>
          <a:ln/>
        </p:spPr>
        <p:txBody>
          <a:bodyPr wrap="square" lIns="0" tIns="0" rIns="0" bIns="0" rtlCol="0" anchor="ctr"/>
          <a:lstStyle/>
          <a:p>
            <a:pPr indent="0" marL="0">
              <a:buNone/>
            </a:pPr>
            <a:r>
              <a:rPr lang="en-US" sz="750" dirty="0">
                <a:solidFill>
                  <a:srgbClr val="9FCFE0"/>
                </a:solidFill>
              </a:rPr>
              <a:t>Seq length: 300 chars</a:t>
            </a:r>
            <a:endParaRPr lang="en-US" sz="750" dirty="0"/>
          </a:p>
        </p:txBody>
      </p:sp>
      <p:sp>
        <p:nvSpPr>
          <p:cNvPr id="50" name="Shape 48"/>
          <p:cNvSpPr/>
          <p:nvPr/>
        </p:nvSpPr>
        <p:spPr>
          <a:xfrm>
            <a:off x="4681728" y="4315968"/>
            <a:ext cx="4114800" cy="320040"/>
          </a:xfrm>
          <a:prstGeom prst="rect">
            <a:avLst/>
          </a:prstGeom>
          <a:solidFill>
            <a:srgbClr val="EDF6F9"/>
          </a:solidFill>
          <a:ln w="12700">
            <a:solidFill>
              <a:srgbClr val="B8D8E4"/>
            </a:solidFill>
            <a:prstDash val="solid"/>
          </a:ln>
        </p:spPr>
      </p:sp>
      <p:sp>
        <p:nvSpPr>
          <p:cNvPr id="51" name="Text 49"/>
          <p:cNvSpPr/>
          <p:nvPr/>
        </p:nvSpPr>
        <p:spPr>
          <a:xfrm>
            <a:off x="4773168" y="4352544"/>
            <a:ext cx="3931920" cy="246888"/>
          </a:xfrm>
          <a:prstGeom prst="rect">
            <a:avLst/>
          </a:prstGeom>
          <a:noFill/>
          <a:ln/>
        </p:spPr>
        <p:txBody>
          <a:bodyPr wrap="square" lIns="0" tIns="0" rIns="0" bIns="0" rtlCol="0" anchor="ctr"/>
          <a:lstStyle/>
          <a:p>
            <a:pPr indent="0" marL="0">
              <a:buNone/>
            </a:pPr>
            <a:r>
              <a:rPr lang="en-US" sz="1000" b="1" dirty="0">
                <a:solidFill>
                  <a:srgbClr val="2A6A7E"/>
                </a:solidFill>
              </a:rPr>
              <a:t>Result: 79% accuracy  —  Best for jargon-heavy text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APPROACH — MODEL 4  (BEST RESULT)</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BERT Fine-tuning — The Winning Approach</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   ·   ~90% accuracy — recommended for production</a:t>
            </a:r>
            <a:endParaRPr lang="en-US" sz="850" dirty="0"/>
          </a:p>
        </p:txBody>
      </p:sp>
      <p:sp>
        <p:nvSpPr>
          <p:cNvPr id="8" name="Text 6"/>
          <p:cNvSpPr/>
          <p:nvPr/>
        </p:nvSpPr>
        <p:spPr>
          <a:xfrm>
            <a:off x="457200" y="1371600"/>
            <a:ext cx="3291840" cy="292608"/>
          </a:xfrm>
          <a:prstGeom prst="rect">
            <a:avLst/>
          </a:prstGeom>
          <a:noFill/>
          <a:ln/>
        </p:spPr>
        <p:txBody>
          <a:bodyPr wrap="square" lIns="0" tIns="0" rIns="0" bIns="0" rtlCol="0" anchor="ctr"/>
          <a:lstStyle/>
          <a:p>
            <a:pPr indent="0" marL="0">
              <a:buNone/>
            </a:pPr>
            <a:r>
              <a:rPr lang="en-US" sz="1200" b="1" dirty="0">
                <a:solidFill>
                  <a:srgbClr val="F4A03A"/>
                </a:solidFill>
              </a:rPr>
              <a:t>How it works</a:t>
            </a:r>
            <a:endParaRPr lang="en-US" sz="1200" dirty="0"/>
          </a:p>
        </p:txBody>
      </p:sp>
      <p:sp>
        <p:nvSpPr>
          <p:cNvPr id="9" name="Text 7"/>
          <p:cNvSpPr/>
          <p:nvPr/>
        </p:nvSpPr>
        <p:spPr>
          <a:xfrm>
            <a:off x="457200" y="1682496"/>
            <a:ext cx="3291840" cy="777240"/>
          </a:xfrm>
          <a:prstGeom prst="rect">
            <a:avLst/>
          </a:prstGeom>
          <a:noFill/>
          <a:ln/>
        </p:spPr>
        <p:txBody>
          <a:bodyPr wrap="square" lIns="0" tIns="0" rIns="0" bIns="0" rtlCol="0" anchor="ctr"/>
          <a:lstStyle/>
          <a:p>
            <a:pPr indent="0" marL="0">
              <a:buNone/>
            </a:pPr>
            <a:r>
              <a:rPr lang="en-US" sz="1050" dirty="0">
                <a:solidFill>
                  <a:srgbClr val="FFFFFF"/>
                </a:solidFill>
              </a:rPr>
              <a:t>BERT (bert-base-uncased) is a 110M-parameter model trained on almost the entire English internet. It reads bidirectionally — left-to-right AND right-to-left simultaneously — giving deep contextual understanding.</a:t>
            </a:r>
            <a:endParaRPr lang="en-US" sz="1050" dirty="0"/>
          </a:p>
        </p:txBody>
      </p:sp>
      <p:sp>
        <p:nvSpPr>
          <p:cNvPr id="10" name="Text 8"/>
          <p:cNvSpPr/>
          <p:nvPr/>
        </p:nvSpPr>
        <p:spPr>
          <a:xfrm>
            <a:off x="457200" y="2523744"/>
            <a:ext cx="3291840" cy="292608"/>
          </a:xfrm>
          <a:prstGeom prst="rect">
            <a:avLst/>
          </a:prstGeom>
          <a:noFill/>
          <a:ln/>
        </p:spPr>
        <p:txBody>
          <a:bodyPr wrap="square" lIns="0" tIns="0" rIns="0" bIns="0" rtlCol="0" anchor="ctr"/>
          <a:lstStyle/>
          <a:p>
            <a:pPr indent="0" marL="0">
              <a:buNone/>
            </a:pPr>
            <a:r>
              <a:rPr lang="en-US" sz="1200" b="1" dirty="0">
                <a:solidFill>
                  <a:srgbClr val="F4A03A"/>
                </a:solidFill>
              </a:rPr>
              <a:t>What fine-tuning means</a:t>
            </a:r>
            <a:endParaRPr lang="en-US" sz="1200" dirty="0"/>
          </a:p>
        </p:txBody>
      </p:sp>
      <p:sp>
        <p:nvSpPr>
          <p:cNvPr id="11" name="Text 9"/>
          <p:cNvSpPr/>
          <p:nvPr/>
        </p:nvSpPr>
        <p:spPr>
          <a:xfrm>
            <a:off x="457200" y="2834640"/>
            <a:ext cx="3291840" cy="685800"/>
          </a:xfrm>
          <a:prstGeom prst="rect">
            <a:avLst/>
          </a:prstGeom>
          <a:noFill/>
          <a:ln/>
        </p:spPr>
        <p:txBody>
          <a:bodyPr wrap="square" lIns="0" tIns="0" rIns="0" bIns="0" rtlCol="0" anchor="ctr"/>
          <a:lstStyle/>
          <a:p>
            <a:pPr indent="0" marL="0">
              <a:buNone/>
            </a:pPr>
            <a:r>
              <a:rPr lang="en-US" sz="1050" dirty="0">
                <a:solidFill>
                  <a:srgbClr val="FFFFFF"/>
                </a:solidFill>
              </a:rPr>
              <a:t>All 110M parameters are updated on our medical sentences. The model adapts its entire language understanding to clinical research — unlike M2 where the encoder was frozen.</a:t>
            </a:r>
            <a:endParaRPr lang="en-US" sz="1050" dirty="0"/>
          </a:p>
        </p:txBody>
      </p:sp>
      <p:sp>
        <p:nvSpPr>
          <p:cNvPr id="12" name="Shape 10"/>
          <p:cNvSpPr/>
          <p:nvPr/>
        </p:nvSpPr>
        <p:spPr>
          <a:xfrm>
            <a:off x="457200" y="3611880"/>
            <a:ext cx="3291840" cy="1234440"/>
          </a:xfrm>
          <a:prstGeom prst="rect">
            <a:avLst/>
          </a:prstGeom>
          <a:solidFill>
            <a:srgbClr val="0D2A38"/>
          </a:solidFill>
          <a:ln w="12700">
            <a:solidFill>
              <a:srgbClr val="1A4060"/>
            </a:solidFill>
            <a:prstDash val="solid"/>
          </a:ln>
        </p:spPr>
      </p:sp>
      <p:sp>
        <p:nvSpPr>
          <p:cNvPr id="13" name="Text 11"/>
          <p:cNvSpPr/>
          <p:nvPr/>
        </p:nvSpPr>
        <p:spPr>
          <a:xfrm>
            <a:off x="566928" y="3685032"/>
            <a:ext cx="3017520" cy="182880"/>
          </a:xfrm>
          <a:prstGeom prst="rect">
            <a:avLst/>
          </a:prstGeom>
          <a:noFill/>
          <a:ln/>
        </p:spPr>
        <p:txBody>
          <a:bodyPr wrap="square" lIns="0" tIns="0" rIns="0" bIns="0" rtlCol="0" anchor="ctr"/>
          <a:lstStyle/>
          <a:p>
            <a:pPr indent="0" marL="0">
              <a:buNone/>
            </a:pPr>
            <a:r>
              <a:rPr lang="en-US" sz="750" b="1" spc="200" kern="0" dirty="0">
                <a:solidFill>
                  <a:srgbClr val="F4A03A"/>
                </a:solidFill>
              </a:rPr>
              <a:t>HYPERPARAMETERS</a:t>
            </a:r>
            <a:endParaRPr lang="en-US" sz="750" dirty="0"/>
          </a:p>
        </p:txBody>
      </p:sp>
      <p:sp>
        <p:nvSpPr>
          <p:cNvPr id="14" name="Text 12"/>
          <p:cNvSpPr/>
          <p:nvPr/>
        </p:nvSpPr>
        <p:spPr>
          <a:xfrm>
            <a:off x="566928" y="3895344"/>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Epochs</a:t>
            </a:r>
            <a:endParaRPr lang="en-US" sz="800" dirty="0"/>
          </a:p>
        </p:txBody>
      </p:sp>
      <p:sp>
        <p:nvSpPr>
          <p:cNvPr id="15" name="Text 13"/>
          <p:cNvSpPr/>
          <p:nvPr/>
        </p:nvSpPr>
        <p:spPr>
          <a:xfrm>
            <a:off x="1828800" y="3895344"/>
            <a:ext cx="1828800" cy="128016"/>
          </a:xfrm>
          <a:prstGeom prst="rect">
            <a:avLst/>
          </a:prstGeom>
          <a:noFill/>
          <a:ln/>
        </p:spPr>
        <p:txBody>
          <a:bodyPr wrap="square" lIns="0" tIns="0" rIns="0" bIns="0" rtlCol="0" anchor="ctr"/>
          <a:lstStyle/>
          <a:p>
            <a:pPr indent="0" marL="0">
              <a:buNone/>
            </a:pPr>
            <a:r>
              <a:rPr lang="en-US" sz="800" dirty="0">
                <a:solidFill>
                  <a:srgbClr val="9FCFE0"/>
                </a:solidFill>
              </a:rPr>
              <a:t>4  (no early stopping)</a:t>
            </a:r>
            <a:endParaRPr lang="en-US" sz="800" dirty="0"/>
          </a:p>
        </p:txBody>
      </p:sp>
      <p:sp>
        <p:nvSpPr>
          <p:cNvPr id="16" name="Text 14"/>
          <p:cNvSpPr/>
          <p:nvPr/>
        </p:nvSpPr>
        <p:spPr>
          <a:xfrm>
            <a:off x="566928" y="4037076"/>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Learning rate</a:t>
            </a:r>
            <a:endParaRPr lang="en-US" sz="800" dirty="0"/>
          </a:p>
        </p:txBody>
      </p:sp>
      <p:sp>
        <p:nvSpPr>
          <p:cNvPr id="17" name="Text 15"/>
          <p:cNvSpPr/>
          <p:nvPr/>
        </p:nvSpPr>
        <p:spPr>
          <a:xfrm>
            <a:off x="1828800" y="4037076"/>
            <a:ext cx="1828800" cy="128016"/>
          </a:xfrm>
          <a:prstGeom prst="rect">
            <a:avLst/>
          </a:prstGeom>
          <a:noFill/>
          <a:ln/>
        </p:spPr>
        <p:txBody>
          <a:bodyPr wrap="square" lIns="0" tIns="0" rIns="0" bIns="0" rtlCol="0" anchor="ctr"/>
          <a:lstStyle/>
          <a:p>
            <a:pPr indent="0" marL="0">
              <a:buNone/>
            </a:pPr>
            <a:r>
              <a:rPr lang="en-US" sz="800" dirty="0">
                <a:solidFill>
                  <a:srgbClr val="9FCFE0"/>
                </a:solidFill>
              </a:rPr>
              <a:t>2e-5  (standard BERT LR)</a:t>
            </a:r>
            <a:endParaRPr lang="en-US" sz="800" dirty="0"/>
          </a:p>
        </p:txBody>
      </p:sp>
      <p:sp>
        <p:nvSpPr>
          <p:cNvPr id="18" name="Text 16"/>
          <p:cNvSpPr/>
          <p:nvPr/>
        </p:nvSpPr>
        <p:spPr>
          <a:xfrm>
            <a:off x="566928" y="4178808"/>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Batch size</a:t>
            </a:r>
            <a:endParaRPr lang="en-US" sz="800" dirty="0"/>
          </a:p>
        </p:txBody>
      </p:sp>
      <p:sp>
        <p:nvSpPr>
          <p:cNvPr id="19" name="Text 17"/>
          <p:cNvSpPr/>
          <p:nvPr/>
        </p:nvSpPr>
        <p:spPr>
          <a:xfrm>
            <a:off x="1828800" y="4178808"/>
            <a:ext cx="1828800" cy="128016"/>
          </a:xfrm>
          <a:prstGeom prst="rect">
            <a:avLst/>
          </a:prstGeom>
          <a:noFill/>
          <a:ln/>
        </p:spPr>
        <p:txBody>
          <a:bodyPr wrap="square" lIns="0" tIns="0" rIns="0" bIns="0" rtlCol="0" anchor="ctr"/>
          <a:lstStyle/>
          <a:p>
            <a:pPr indent="0" marL="0">
              <a:buNone/>
            </a:pPr>
            <a:r>
              <a:rPr lang="en-US" sz="800" dirty="0">
                <a:solidFill>
                  <a:srgbClr val="9FCFE0"/>
                </a:solidFill>
              </a:rPr>
              <a:t>32</a:t>
            </a:r>
            <a:endParaRPr lang="en-US" sz="800" dirty="0"/>
          </a:p>
        </p:txBody>
      </p:sp>
      <p:sp>
        <p:nvSpPr>
          <p:cNvPr id="20" name="Text 18"/>
          <p:cNvSpPr/>
          <p:nvPr/>
        </p:nvSpPr>
        <p:spPr>
          <a:xfrm>
            <a:off x="566928" y="4320540"/>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Warmup steps</a:t>
            </a:r>
            <a:endParaRPr lang="en-US" sz="800" dirty="0"/>
          </a:p>
        </p:txBody>
      </p:sp>
      <p:sp>
        <p:nvSpPr>
          <p:cNvPr id="21" name="Text 19"/>
          <p:cNvSpPr/>
          <p:nvPr/>
        </p:nvSpPr>
        <p:spPr>
          <a:xfrm>
            <a:off x="1828800" y="4320540"/>
            <a:ext cx="1828800" cy="128016"/>
          </a:xfrm>
          <a:prstGeom prst="rect">
            <a:avLst/>
          </a:prstGeom>
          <a:noFill/>
          <a:ln/>
        </p:spPr>
        <p:txBody>
          <a:bodyPr wrap="square" lIns="0" tIns="0" rIns="0" bIns="0" rtlCol="0" anchor="ctr"/>
          <a:lstStyle/>
          <a:p>
            <a:pPr indent="0" marL="0">
              <a:buNone/>
            </a:pPr>
            <a:r>
              <a:rPr lang="en-US" sz="800" dirty="0">
                <a:solidFill>
                  <a:srgbClr val="9FCFE0"/>
                </a:solidFill>
              </a:rPr>
              <a:t>10% of total steps</a:t>
            </a:r>
            <a:endParaRPr lang="en-US" sz="800" dirty="0"/>
          </a:p>
        </p:txBody>
      </p:sp>
      <p:sp>
        <p:nvSpPr>
          <p:cNvPr id="22" name="Text 20"/>
          <p:cNvSpPr/>
          <p:nvPr/>
        </p:nvSpPr>
        <p:spPr>
          <a:xfrm>
            <a:off x="566928" y="4462272"/>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Weight decay</a:t>
            </a:r>
            <a:endParaRPr lang="en-US" sz="800" dirty="0"/>
          </a:p>
        </p:txBody>
      </p:sp>
      <p:sp>
        <p:nvSpPr>
          <p:cNvPr id="23" name="Text 21"/>
          <p:cNvSpPr/>
          <p:nvPr/>
        </p:nvSpPr>
        <p:spPr>
          <a:xfrm>
            <a:off x="1828800" y="4462272"/>
            <a:ext cx="1828800" cy="128016"/>
          </a:xfrm>
          <a:prstGeom prst="rect">
            <a:avLst/>
          </a:prstGeom>
          <a:noFill/>
          <a:ln/>
        </p:spPr>
        <p:txBody>
          <a:bodyPr wrap="square" lIns="0" tIns="0" rIns="0" bIns="0" rtlCol="0" anchor="ctr"/>
          <a:lstStyle/>
          <a:p>
            <a:pPr indent="0" marL="0">
              <a:buNone/>
            </a:pPr>
            <a:r>
              <a:rPr lang="en-US" sz="800" dirty="0">
                <a:solidFill>
                  <a:srgbClr val="9FCFE0"/>
                </a:solidFill>
              </a:rPr>
              <a:t>0.01  (AdamW)</a:t>
            </a:r>
            <a:endParaRPr lang="en-US" sz="800" dirty="0"/>
          </a:p>
        </p:txBody>
      </p:sp>
      <p:sp>
        <p:nvSpPr>
          <p:cNvPr id="24" name="Text 22"/>
          <p:cNvSpPr/>
          <p:nvPr/>
        </p:nvSpPr>
        <p:spPr>
          <a:xfrm>
            <a:off x="566928" y="4604004"/>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Max seq length</a:t>
            </a:r>
            <a:endParaRPr lang="en-US" sz="800" dirty="0"/>
          </a:p>
        </p:txBody>
      </p:sp>
      <p:sp>
        <p:nvSpPr>
          <p:cNvPr id="25" name="Text 23"/>
          <p:cNvSpPr/>
          <p:nvPr/>
        </p:nvSpPr>
        <p:spPr>
          <a:xfrm>
            <a:off x="1828800" y="4604004"/>
            <a:ext cx="1828800" cy="128016"/>
          </a:xfrm>
          <a:prstGeom prst="rect">
            <a:avLst/>
          </a:prstGeom>
          <a:noFill/>
          <a:ln/>
        </p:spPr>
        <p:txBody>
          <a:bodyPr wrap="square" lIns="0" tIns="0" rIns="0" bIns="0" rtlCol="0" anchor="ctr"/>
          <a:lstStyle/>
          <a:p>
            <a:pPr indent="0" marL="0">
              <a:buNone/>
            </a:pPr>
            <a:r>
              <a:rPr lang="en-US" sz="800" dirty="0">
                <a:solidFill>
                  <a:srgbClr val="9FCFE0"/>
                </a:solidFill>
              </a:rPr>
              <a:t>128 tokens</a:t>
            </a:r>
            <a:endParaRPr lang="en-US" sz="800" dirty="0"/>
          </a:p>
        </p:txBody>
      </p:sp>
      <p:sp>
        <p:nvSpPr>
          <p:cNvPr id="26" name="Text 24"/>
          <p:cNvSpPr/>
          <p:nvPr/>
        </p:nvSpPr>
        <p:spPr>
          <a:xfrm>
            <a:off x="566928" y="4745736"/>
            <a:ext cx="1234440" cy="128016"/>
          </a:xfrm>
          <a:prstGeom prst="rect">
            <a:avLst/>
          </a:prstGeom>
          <a:noFill/>
          <a:ln/>
        </p:spPr>
        <p:txBody>
          <a:bodyPr wrap="square" lIns="0" tIns="0" rIns="0" bIns="0" rtlCol="0" anchor="ctr"/>
          <a:lstStyle/>
          <a:p>
            <a:pPr indent="0" marL="0">
              <a:buNone/>
            </a:pPr>
            <a:r>
              <a:rPr lang="en-US" sz="800" b="1" dirty="0">
                <a:solidFill>
                  <a:srgbClr val="8AACBC"/>
                </a:solidFill>
              </a:rPr>
              <a:t>Precision</a:t>
            </a:r>
            <a:endParaRPr lang="en-US" sz="800" dirty="0"/>
          </a:p>
        </p:txBody>
      </p:sp>
      <p:sp>
        <p:nvSpPr>
          <p:cNvPr id="27" name="Text 25"/>
          <p:cNvSpPr/>
          <p:nvPr/>
        </p:nvSpPr>
        <p:spPr>
          <a:xfrm>
            <a:off x="1828800" y="4745736"/>
            <a:ext cx="1828800" cy="128016"/>
          </a:xfrm>
          <a:prstGeom prst="rect">
            <a:avLst/>
          </a:prstGeom>
          <a:noFill/>
          <a:ln/>
        </p:spPr>
        <p:txBody>
          <a:bodyPr wrap="square" lIns="0" tIns="0" rIns="0" bIns="0" rtlCol="0" anchor="ctr"/>
          <a:lstStyle/>
          <a:p>
            <a:pPr indent="0" marL="0">
              <a:buNone/>
            </a:pPr>
            <a:r>
              <a:rPr lang="en-US" sz="800" dirty="0">
                <a:solidFill>
                  <a:srgbClr val="9FCFE0"/>
                </a:solidFill>
              </a:rPr>
              <a:t>bfloat16 AMP (XPU)</a:t>
            </a:r>
            <a:endParaRPr lang="en-US" sz="800" dirty="0"/>
          </a:p>
        </p:txBody>
      </p:sp>
      <p:sp>
        <p:nvSpPr>
          <p:cNvPr id="28" name="Shape 26"/>
          <p:cNvSpPr/>
          <p:nvPr/>
        </p:nvSpPr>
        <p:spPr>
          <a:xfrm>
            <a:off x="3977640" y="1371600"/>
            <a:ext cx="2560320" cy="530352"/>
          </a:xfrm>
          <a:prstGeom prst="rect">
            <a:avLst/>
          </a:prstGeom>
          <a:solidFill>
            <a:srgbClr val="1A3348"/>
          </a:solidFill>
          <a:ln w="12700">
            <a:solidFill>
              <a:srgbClr val="2A4A60"/>
            </a:solidFill>
            <a:prstDash val="solid"/>
          </a:ln>
        </p:spPr>
      </p:sp>
      <p:sp>
        <p:nvSpPr>
          <p:cNvPr id="29" name="Text 27"/>
          <p:cNvSpPr/>
          <p:nvPr/>
        </p:nvSpPr>
        <p:spPr>
          <a:xfrm>
            <a:off x="4096512" y="1417320"/>
            <a:ext cx="2331720" cy="219456"/>
          </a:xfrm>
          <a:prstGeom prst="rect">
            <a:avLst/>
          </a:prstGeom>
          <a:noFill/>
          <a:ln/>
        </p:spPr>
        <p:txBody>
          <a:bodyPr wrap="square" lIns="0" tIns="0" rIns="0" bIns="0" rtlCol="0" anchor="ctr"/>
          <a:lstStyle/>
          <a:p>
            <a:pPr indent="0" marL="0">
              <a:buNone/>
            </a:pPr>
            <a:r>
              <a:rPr lang="en-US" sz="1050" b="1" dirty="0">
                <a:solidFill>
                  <a:srgbClr val="F4A03A"/>
                </a:solidFill>
              </a:rPr>
              <a:t>Input Sentence</a:t>
            </a:r>
            <a:endParaRPr lang="en-US" sz="1050" dirty="0"/>
          </a:p>
        </p:txBody>
      </p:sp>
      <p:sp>
        <p:nvSpPr>
          <p:cNvPr id="30" name="Text 28"/>
          <p:cNvSpPr/>
          <p:nvPr/>
        </p:nvSpPr>
        <p:spPr>
          <a:xfrm>
            <a:off x="4096512" y="1645920"/>
            <a:ext cx="2331720" cy="219456"/>
          </a:xfrm>
          <a:prstGeom prst="rect">
            <a:avLst/>
          </a:prstGeom>
          <a:noFill/>
          <a:ln/>
        </p:spPr>
        <p:txBody>
          <a:bodyPr wrap="square" lIns="0" tIns="0" rIns="0" bIns="0" rtlCol="0" anchor="ctr"/>
          <a:lstStyle/>
          <a:p>
            <a:pPr indent="0" marL="0">
              <a:buNone/>
            </a:pPr>
            <a:r>
              <a:rPr lang="en-US" sz="850" dirty="0">
                <a:solidFill>
                  <a:srgbClr val="8AACBC"/>
                </a:solidFill>
              </a:rPr>
              <a:t>'Patients were randomized 1:1'</a:t>
            </a:r>
            <a:endParaRPr lang="en-US" sz="850" dirty="0"/>
          </a:p>
        </p:txBody>
      </p:sp>
      <p:sp>
        <p:nvSpPr>
          <p:cNvPr id="31" name="Text 29"/>
          <p:cNvSpPr/>
          <p:nvPr/>
        </p:nvSpPr>
        <p:spPr>
          <a:xfrm>
            <a:off x="4434840" y="1883664"/>
            <a:ext cx="457200" cy="182880"/>
          </a:xfrm>
          <a:prstGeom prst="rect">
            <a:avLst/>
          </a:prstGeom>
          <a:noFill/>
          <a:ln/>
        </p:spPr>
        <p:txBody>
          <a:bodyPr wrap="square" lIns="0" tIns="0" rIns="0" bIns="0" rtlCol="0" anchor="ctr"/>
          <a:lstStyle/>
          <a:p>
            <a:pPr algn="ctr" indent="0" marL="0">
              <a:buNone/>
            </a:pPr>
            <a:r>
              <a:rPr lang="en-US" sz="1200" dirty="0">
                <a:solidFill>
                  <a:srgbClr val="1A9CB0"/>
                </a:solidFill>
              </a:rPr>
              <a:t>↓</a:t>
            </a:r>
            <a:endParaRPr lang="en-US" sz="1200" dirty="0"/>
          </a:p>
        </p:txBody>
      </p:sp>
      <p:sp>
        <p:nvSpPr>
          <p:cNvPr id="32" name="Shape 30"/>
          <p:cNvSpPr/>
          <p:nvPr/>
        </p:nvSpPr>
        <p:spPr>
          <a:xfrm>
            <a:off x="3977640" y="2048256"/>
            <a:ext cx="2560320" cy="530352"/>
          </a:xfrm>
          <a:prstGeom prst="rect">
            <a:avLst/>
          </a:prstGeom>
          <a:solidFill>
            <a:srgbClr val="1A3348"/>
          </a:solidFill>
          <a:ln w="12700">
            <a:solidFill>
              <a:srgbClr val="2A4A60"/>
            </a:solidFill>
            <a:prstDash val="solid"/>
          </a:ln>
        </p:spPr>
      </p:sp>
      <p:sp>
        <p:nvSpPr>
          <p:cNvPr id="33" name="Text 31"/>
          <p:cNvSpPr/>
          <p:nvPr/>
        </p:nvSpPr>
        <p:spPr>
          <a:xfrm>
            <a:off x="4096512" y="2093976"/>
            <a:ext cx="2331720" cy="219456"/>
          </a:xfrm>
          <a:prstGeom prst="rect">
            <a:avLst/>
          </a:prstGeom>
          <a:noFill/>
          <a:ln/>
        </p:spPr>
        <p:txBody>
          <a:bodyPr wrap="square" lIns="0" tIns="0" rIns="0" bIns="0" rtlCol="0" anchor="ctr"/>
          <a:lstStyle/>
          <a:p>
            <a:pPr indent="0" marL="0">
              <a:buNone/>
            </a:pPr>
            <a:r>
              <a:rPr lang="en-US" sz="1050" b="1" dirty="0">
                <a:solidFill>
                  <a:srgbClr val="F4A03A"/>
                </a:solidFill>
              </a:rPr>
              <a:t>Tokeniser</a:t>
            </a:r>
            <a:endParaRPr lang="en-US" sz="1050" dirty="0"/>
          </a:p>
        </p:txBody>
      </p:sp>
      <p:sp>
        <p:nvSpPr>
          <p:cNvPr id="34" name="Text 32"/>
          <p:cNvSpPr/>
          <p:nvPr/>
        </p:nvSpPr>
        <p:spPr>
          <a:xfrm>
            <a:off x="4096512" y="2322576"/>
            <a:ext cx="2331720" cy="219456"/>
          </a:xfrm>
          <a:prstGeom prst="rect">
            <a:avLst/>
          </a:prstGeom>
          <a:noFill/>
          <a:ln/>
        </p:spPr>
        <p:txBody>
          <a:bodyPr wrap="square" lIns="0" tIns="0" rIns="0" bIns="0" rtlCol="0" anchor="ctr"/>
          <a:lstStyle/>
          <a:p>
            <a:pPr indent="0" marL="0">
              <a:buNone/>
            </a:pPr>
            <a:r>
              <a:rPr lang="en-US" sz="850" dirty="0">
                <a:solidFill>
                  <a:srgbClr val="8AACBC"/>
                </a:solidFill>
              </a:rPr>
              <a:t>[CLS] patients were random ##ized [SEP]</a:t>
            </a:r>
            <a:endParaRPr lang="en-US" sz="850" dirty="0"/>
          </a:p>
        </p:txBody>
      </p:sp>
      <p:sp>
        <p:nvSpPr>
          <p:cNvPr id="35" name="Text 33"/>
          <p:cNvSpPr/>
          <p:nvPr/>
        </p:nvSpPr>
        <p:spPr>
          <a:xfrm>
            <a:off x="4434840" y="2560320"/>
            <a:ext cx="457200" cy="182880"/>
          </a:xfrm>
          <a:prstGeom prst="rect">
            <a:avLst/>
          </a:prstGeom>
          <a:noFill/>
          <a:ln/>
        </p:spPr>
        <p:txBody>
          <a:bodyPr wrap="square" lIns="0" tIns="0" rIns="0" bIns="0" rtlCol="0" anchor="ctr"/>
          <a:lstStyle/>
          <a:p>
            <a:pPr algn="ctr" indent="0" marL="0">
              <a:buNone/>
            </a:pPr>
            <a:r>
              <a:rPr lang="en-US" sz="1200" dirty="0">
                <a:solidFill>
                  <a:srgbClr val="1A9CB0"/>
                </a:solidFill>
              </a:rPr>
              <a:t>↓</a:t>
            </a:r>
            <a:endParaRPr lang="en-US" sz="1200" dirty="0"/>
          </a:p>
        </p:txBody>
      </p:sp>
      <p:sp>
        <p:nvSpPr>
          <p:cNvPr id="36" name="Shape 34"/>
          <p:cNvSpPr/>
          <p:nvPr/>
        </p:nvSpPr>
        <p:spPr>
          <a:xfrm>
            <a:off x="3977640" y="2724912"/>
            <a:ext cx="2560320" cy="530352"/>
          </a:xfrm>
          <a:prstGeom prst="rect">
            <a:avLst/>
          </a:prstGeom>
          <a:solidFill>
            <a:srgbClr val="1A3348"/>
          </a:solidFill>
          <a:ln w="12700">
            <a:solidFill>
              <a:srgbClr val="2A4A60"/>
            </a:solidFill>
            <a:prstDash val="solid"/>
          </a:ln>
        </p:spPr>
      </p:sp>
      <p:sp>
        <p:nvSpPr>
          <p:cNvPr id="37" name="Text 35"/>
          <p:cNvSpPr/>
          <p:nvPr/>
        </p:nvSpPr>
        <p:spPr>
          <a:xfrm>
            <a:off x="4096512" y="2770632"/>
            <a:ext cx="2331720" cy="219456"/>
          </a:xfrm>
          <a:prstGeom prst="rect">
            <a:avLst/>
          </a:prstGeom>
          <a:noFill/>
          <a:ln/>
        </p:spPr>
        <p:txBody>
          <a:bodyPr wrap="square" lIns="0" tIns="0" rIns="0" bIns="0" rtlCol="0" anchor="ctr"/>
          <a:lstStyle/>
          <a:p>
            <a:pPr indent="0" marL="0">
              <a:buNone/>
            </a:pPr>
            <a:r>
              <a:rPr lang="en-US" sz="1050" b="1" dirty="0">
                <a:solidFill>
                  <a:srgbClr val="F4A03A"/>
                </a:solidFill>
              </a:rPr>
              <a:t>BERT Encoder</a:t>
            </a:r>
            <a:endParaRPr lang="en-US" sz="1050" dirty="0"/>
          </a:p>
        </p:txBody>
      </p:sp>
      <p:sp>
        <p:nvSpPr>
          <p:cNvPr id="38" name="Text 36"/>
          <p:cNvSpPr/>
          <p:nvPr/>
        </p:nvSpPr>
        <p:spPr>
          <a:xfrm>
            <a:off x="4096512" y="2999232"/>
            <a:ext cx="2331720" cy="219456"/>
          </a:xfrm>
          <a:prstGeom prst="rect">
            <a:avLst/>
          </a:prstGeom>
          <a:noFill/>
          <a:ln/>
        </p:spPr>
        <p:txBody>
          <a:bodyPr wrap="square" lIns="0" tIns="0" rIns="0" bIns="0" rtlCol="0" anchor="ctr"/>
          <a:lstStyle/>
          <a:p>
            <a:pPr indent="0" marL="0">
              <a:buNone/>
            </a:pPr>
            <a:r>
              <a:rPr lang="en-US" sz="850" dirty="0">
                <a:solidFill>
                  <a:srgbClr val="8AACBC"/>
                </a:solidFill>
              </a:rPr>
              <a:t>12 transformer layers  |  110M params</a:t>
            </a:r>
            <a:endParaRPr lang="en-US" sz="850" dirty="0"/>
          </a:p>
        </p:txBody>
      </p:sp>
      <p:sp>
        <p:nvSpPr>
          <p:cNvPr id="39" name="Text 37"/>
          <p:cNvSpPr/>
          <p:nvPr/>
        </p:nvSpPr>
        <p:spPr>
          <a:xfrm>
            <a:off x="4434840" y="3236976"/>
            <a:ext cx="457200" cy="182880"/>
          </a:xfrm>
          <a:prstGeom prst="rect">
            <a:avLst/>
          </a:prstGeom>
          <a:noFill/>
          <a:ln/>
        </p:spPr>
        <p:txBody>
          <a:bodyPr wrap="square" lIns="0" tIns="0" rIns="0" bIns="0" rtlCol="0" anchor="ctr"/>
          <a:lstStyle/>
          <a:p>
            <a:pPr algn="ctr" indent="0" marL="0">
              <a:buNone/>
            </a:pPr>
            <a:r>
              <a:rPr lang="en-US" sz="1200" dirty="0">
                <a:solidFill>
                  <a:srgbClr val="1A9CB0"/>
                </a:solidFill>
              </a:rPr>
              <a:t>↓</a:t>
            </a:r>
            <a:endParaRPr lang="en-US" sz="1200" dirty="0"/>
          </a:p>
        </p:txBody>
      </p:sp>
      <p:sp>
        <p:nvSpPr>
          <p:cNvPr id="40" name="Shape 38"/>
          <p:cNvSpPr/>
          <p:nvPr/>
        </p:nvSpPr>
        <p:spPr>
          <a:xfrm>
            <a:off x="3977640" y="3401568"/>
            <a:ext cx="2560320" cy="530352"/>
          </a:xfrm>
          <a:prstGeom prst="rect">
            <a:avLst/>
          </a:prstGeom>
          <a:solidFill>
            <a:srgbClr val="1A3348"/>
          </a:solidFill>
          <a:ln w="12700">
            <a:solidFill>
              <a:srgbClr val="2A4A60"/>
            </a:solidFill>
            <a:prstDash val="solid"/>
          </a:ln>
        </p:spPr>
      </p:sp>
      <p:sp>
        <p:nvSpPr>
          <p:cNvPr id="41" name="Text 39"/>
          <p:cNvSpPr/>
          <p:nvPr/>
        </p:nvSpPr>
        <p:spPr>
          <a:xfrm>
            <a:off x="4096512" y="3447288"/>
            <a:ext cx="2331720" cy="219456"/>
          </a:xfrm>
          <a:prstGeom prst="rect">
            <a:avLst/>
          </a:prstGeom>
          <a:noFill/>
          <a:ln/>
        </p:spPr>
        <p:txBody>
          <a:bodyPr wrap="square" lIns="0" tIns="0" rIns="0" bIns="0" rtlCol="0" anchor="ctr"/>
          <a:lstStyle/>
          <a:p>
            <a:pPr indent="0" marL="0">
              <a:buNone/>
            </a:pPr>
            <a:r>
              <a:rPr lang="en-US" sz="1050" b="1" dirty="0">
                <a:solidFill>
                  <a:srgbClr val="F4A03A"/>
                </a:solidFill>
              </a:rPr>
              <a:t>[CLS] Vector</a:t>
            </a:r>
            <a:endParaRPr lang="en-US" sz="1050" dirty="0"/>
          </a:p>
        </p:txBody>
      </p:sp>
      <p:sp>
        <p:nvSpPr>
          <p:cNvPr id="42" name="Text 40"/>
          <p:cNvSpPr/>
          <p:nvPr/>
        </p:nvSpPr>
        <p:spPr>
          <a:xfrm>
            <a:off x="4096512" y="3675888"/>
            <a:ext cx="2331720" cy="219456"/>
          </a:xfrm>
          <a:prstGeom prst="rect">
            <a:avLst/>
          </a:prstGeom>
          <a:noFill/>
          <a:ln/>
        </p:spPr>
        <p:txBody>
          <a:bodyPr wrap="square" lIns="0" tIns="0" rIns="0" bIns="0" rtlCol="0" anchor="ctr"/>
          <a:lstStyle/>
          <a:p>
            <a:pPr indent="0" marL="0">
              <a:buNone/>
            </a:pPr>
            <a:r>
              <a:rPr lang="en-US" sz="850" dirty="0">
                <a:solidFill>
                  <a:srgbClr val="8AACBC"/>
                </a:solidFill>
              </a:rPr>
              <a:t>768-dim sentence representation</a:t>
            </a:r>
            <a:endParaRPr lang="en-US" sz="850" dirty="0"/>
          </a:p>
        </p:txBody>
      </p:sp>
      <p:sp>
        <p:nvSpPr>
          <p:cNvPr id="43" name="Text 41"/>
          <p:cNvSpPr/>
          <p:nvPr/>
        </p:nvSpPr>
        <p:spPr>
          <a:xfrm>
            <a:off x="4434840" y="3913632"/>
            <a:ext cx="457200" cy="182880"/>
          </a:xfrm>
          <a:prstGeom prst="rect">
            <a:avLst/>
          </a:prstGeom>
          <a:noFill/>
          <a:ln/>
        </p:spPr>
        <p:txBody>
          <a:bodyPr wrap="square" lIns="0" tIns="0" rIns="0" bIns="0" rtlCol="0" anchor="ctr"/>
          <a:lstStyle/>
          <a:p>
            <a:pPr algn="ctr" indent="0" marL="0">
              <a:buNone/>
            </a:pPr>
            <a:r>
              <a:rPr lang="en-US" sz="1200" dirty="0">
                <a:solidFill>
                  <a:srgbClr val="1A9CB0"/>
                </a:solidFill>
              </a:rPr>
              <a:t>↓</a:t>
            </a:r>
            <a:endParaRPr lang="en-US" sz="1200" dirty="0"/>
          </a:p>
        </p:txBody>
      </p:sp>
      <p:sp>
        <p:nvSpPr>
          <p:cNvPr id="44" name="Shape 42"/>
          <p:cNvSpPr/>
          <p:nvPr/>
        </p:nvSpPr>
        <p:spPr>
          <a:xfrm>
            <a:off x="3977640" y="4078224"/>
            <a:ext cx="2560320" cy="530352"/>
          </a:xfrm>
          <a:prstGeom prst="rect">
            <a:avLst/>
          </a:prstGeom>
          <a:solidFill>
            <a:srgbClr val="F4A03A"/>
          </a:solidFill>
          <a:ln w="12700">
            <a:solidFill>
              <a:srgbClr val="F4A03A"/>
            </a:solidFill>
            <a:prstDash val="solid"/>
          </a:ln>
        </p:spPr>
      </p:sp>
      <p:sp>
        <p:nvSpPr>
          <p:cNvPr id="45" name="Text 43"/>
          <p:cNvSpPr/>
          <p:nvPr/>
        </p:nvSpPr>
        <p:spPr>
          <a:xfrm>
            <a:off x="4096512" y="4123944"/>
            <a:ext cx="2331720" cy="219456"/>
          </a:xfrm>
          <a:prstGeom prst="rect">
            <a:avLst/>
          </a:prstGeom>
          <a:noFill/>
          <a:ln/>
        </p:spPr>
        <p:txBody>
          <a:bodyPr wrap="square" lIns="0" tIns="0" rIns="0" bIns="0" rtlCol="0" anchor="ctr"/>
          <a:lstStyle/>
          <a:p>
            <a:pPr indent="0" marL="0">
              <a:buNone/>
            </a:pPr>
            <a:r>
              <a:rPr lang="en-US" sz="1050" b="1" dirty="0">
                <a:solidFill>
                  <a:srgbClr val="0D1F2D"/>
                </a:solidFill>
              </a:rPr>
              <a:t>Classifier Head</a:t>
            </a:r>
            <a:endParaRPr lang="en-US" sz="1050" dirty="0"/>
          </a:p>
        </p:txBody>
      </p:sp>
      <p:sp>
        <p:nvSpPr>
          <p:cNvPr id="46" name="Text 44"/>
          <p:cNvSpPr/>
          <p:nvPr/>
        </p:nvSpPr>
        <p:spPr>
          <a:xfrm>
            <a:off x="4096512" y="4352544"/>
            <a:ext cx="2331720" cy="219456"/>
          </a:xfrm>
          <a:prstGeom prst="rect">
            <a:avLst/>
          </a:prstGeom>
          <a:noFill/>
          <a:ln/>
        </p:spPr>
        <p:txBody>
          <a:bodyPr wrap="square" lIns="0" tIns="0" rIns="0" bIns="0" rtlCol="0" anchor="ctr"/>
          <a:lstStyle/>
          <a:p>
            <a:pPr indent="0" marL="0">
              <a:buNone/>
            </a:pPr>
            <a:r>
              <a:rPr lang="en-US" sz="850" dirty="0">
                <a:solidFill>
                  <a:srgbClr val="0D1F2D"/>
                </a:solidFill>
              </a:rPr>
              <a:t>Linear → 5 class probabilities</a:t>
            </a:r>
            <a:endParaRPr lang="en-US" sz="850" dirty="0"/>
          </a:p>
        </p:txBody>
      </p:sp>
      <p:sp>
        <p:nvSpPr>
          <p:cNvPr id="47" name="Shape 45"/>
          <p:cNvSpPr/>
          <p:nvPr/>
        </p:nvSpPr>
        <p:spPr>
          <a:xfrm>
            <a:off x="6720840" y="1371600"/>
            <a:ext cx="2103120" cy="3474720"/>
          </a:xfrm>
          <a:prstGeom prst="rect">
            <a:avLst/>
          </a:prstGeom>
          <a:solidFill>
            <a:srgbClr val="0D2A38"/>
          </a:solidFill>
          <a:ln w="12700">
            <a:solidFill>
              <a:srgbClr val="1A4060"/>
            </a:solidFill>
            <a:prstDash val="solid"/>
          </a:ln>
        </p:spPr>
      </p:sp>
      <p:sp>
        <p:nvSpPr>
          <p:cNvPr id="48" name="Text 46"/>
          <p:cNvSpPr/>
          <p:nvPr/>
        </p:nvSpPr>
        <p:spPr>
          <a:xfrm>
            <a:off x="6830568" y="1463040"/>
            <a:ext cx="1883664" cy="201168"/>
          </a:xfrm>
          <a:prstGeom prst="rect">
            <a:avLst/>
          </a:prstGeom>
          <a:noFill/>
          <a:ln/>
        </p:spPr>
        <p:txBody>
          <a:bodyPr wrap="square" lIns="0" tIns="0" rIns="0" bIns="0" rtlCol="0" anchor="ctr"/>
          <a:lstStyle/>
          <a:p>
            <a:pPr indent="0" marL="0">
              <a:buNone/>
            </a:pPr>
            <a:r>
              <a:rPr lang="en-US" sz="800" b="1" spc="200" kern="0" dirty="0">
                <a:solidFill>
                  <a:srgbClr val="F4A03A"/>
                </a:solidFill>
              </a:rPr>
              <a:t>TRAINING RUN</a:t>
            </a:r>
            <a:endParaRPr lang="en-US" sz="800" dirty="0"/>
          </a:p>
        </p:txBody>
      </p:sp>
      <p:sp>
        <p:nvSpPr>
          <p:cNvPr id="49" name="Text 47"/>
          <p:cNvSpPr/>
          <p:nvPr/>
        </p:nvSpPr>
        <p:spPr>
          <a:xfrm>
            <a:off x="6830568" y="1691640"/>
            <a:ext cx="1920240" cy="182880"/>
          </a:xfrm>
          <a:prstGeom prst="rect">
            <a:avLst/>
          </a:prstGeom>
          <a:noFill/>
          <a:ln/>
        </p:spPr>
        <p:txBody>
          <a:bodyPr wrap="square" lIns="0" tIns="0" rIns="0" bIns="0" rtlCol="0" anchor="ctr"/>
          <a:lstStyle/>
          <a:p>
            <a:pPr indent="0" marL="0">
              <a:buNone/>
            </a:pPr>
            <a:r>
              <a:rPr lang="en-US" sz="750" b="1" dirty="0">
                <a:solidFill>
                  <a:srgbClr val="8AACBC"/>
                </a:solidFill>
              </a:rPr>
              <a:t>         Train L   Val L   Val Acc</a:t>
            </a:r>
            <a:endParaRPr lang="en-US" sz="750" dirty="0"/>
          </a:p>
        </p:txBody>
      </p:sp>
      <p:sp>
        <p:nvSpPr>
          <p:cNvPr id="50" name="Shape 48"/>
          <p:cNvSpPr/>
          <p:nvPr/>
        </p:nvSpPr>
        <p:spPr>
          <a:xfrm>
            <a:off x="6830568" y="1920240"/>
            <a:ext cx="1883664" cy="475488"/>
          </a:xfrm>
          <a:prstGeom prst="rect">
            <a:avLst/>
          </a:prstGeom>
          <a:solidFill>
            <a:srgbClr val="0D2236"/>
          </a:solidFill>
          <a:ln w="6350">
            <a:solidFill>
              <a:srgbClr val="1A4060"/>
            </a:solidFill>
            <a:prstDash val="solid"/>
          </a:ln>
        </p:spPr>
      </p:sp>
      <p:sp>
        <p:nvSpPr>
          <p:cNvPr id="51" name="Text 49"/>
          <p:cNvSpPr/>
          <p:nvPr/>
        </p:nvSpPr>
        <p:spPr>
          <a:xfrm>
            <a:off x="6885432" y="1975104"/>
            <a:ext cx="640080" cy="164592"/>
          </a:xfrm>
          <a:prstGeom prst="rect">
            <a:avLst/>
          </a:prstGeom>
          <a:noFill/>
          <a:ln/>
        </p:spPr>
        <p:txBody>
          <a:bodyPr wrap="square" lIns="0" tIns="0" rIns="0" bIns="0" rtlCol="0" anchor="ctr"/>
          <a:lstStyle/>
          <a:p>
            <a:pPr indent="0" marL="0">
              <a:buNone/>
            </a:pPr>
            <a:r>
              <a:rPr lang="en-US" sz="850" b="1" dirty="0">
                <a:solidFill>
                  <a:srgbClr val="6A9BB0"/>
                </a:solidFill>
              </a:rPr>
              <a:t>Epoch 1</a:t>
            </a:r>
            <a:endParaRPr lang="en-US" sz="850" dirty="0"/>
          </a:p>
        </p:txBody>
      </p:sp>
      <p:sp>
        <p:nvSpPr>
          <p:cNvPr id="52" name="Text 50"/>
          <p:cNvSpPr/>
          <p:nvPr/>
        </p:nvSpPr>
        <p:spPr>
          <a:xfrm>
            <a:off x="6885432" y="2157984"/>
            <a:ext cx="1737360" cy="164592"/>
          </a:xfrm>
          <a:prstGeom prst="rect">
            <a:avLst/>
          </a:prstGeom>
          <a:noFill/>
          <a:ln/>
        </p:spPr>
        <p:txBody>
          <a:bodyPr wrap="square" lIns="0" tIns="0" rIns="0" bIns="0" rtlCol="0" anchor="ctr"/>
          <a:lstStyle/>
          <a:p>
            <a:pPr indent="0" marL="0">
              <a:buNone/>
            </a:pPr>
            <a:r>
              <a:rPr lang="en-US" sz="850" dirty="0">
                <a:solidFill>
                  <a:srgbClr val="8AACBC"/>
                </a:solidFill>
              </a:rPr>
              <a:t>0.68       0.41     87.2%</a:t>
            </a:r>
            <a:endParaRPr lang="en-US" sz="850" dirty="0"/>
          </a:p>
        </p:txBody>
      </p:sp>
      <p:sp>
        <p:nvSpPr>
          <p:cNvPr id="53" name="Shape 51"/>
          <p:cNvSpPr/>
          <p:nvPr/>
        </p:nvSpPr>
        <p:spPr>
          <a:xfrm>
            <a:off x="6830568" y="2487168"/>
            <a:ext cx="1883664" cy="475488"/>
          </a:xfrm>
          <a:prstGeom prst="rect">
            <a:avLst/>
          </a:prstGeom>
          <a:solidFill>
            <a:srgbClr val="0D2236"/>
          </a:solidFill>
          <a:ln w="6350">
            <a:solidFill>
              <a:srgbClr val="1A4060"/>
            </a:solidFill>
            <a:prstDash val="solid"/>
          </a:ln>
        </p:spPr>
      </p:sp>
      <p:sp>
        <p:nvSpPr>
          <p:cNvPr id="54" name="Text 52"/>
          <p:cNvSpPr/>
          <p:nvPr/>
        </p:nvSpPr>
        <p:spPr>
          <a:xfrm>
            <a:off x="6885432" y="2542032"/>
            <a:ext cx="640080" cy="164592"/>
          </a:xfrm>
          <a:prstGeom prst="rect">
            <a:avLst/>
          </a:prstGeom>
          <a:noFill/>
          <a:ln/>
        </p:spPr>
        <p:txBody>
          <a:bodyPr wrap="square" lIns="0" tIns="0" rIns="0" bIns="0" rtlCol="0" anchor="ctr"/>
          <a:lstStyle/>
          <a:p>
            <a:pPr indent="0" marL="0">
              <a:buNone/>
            </a:pPr>
            <a:r>
              <a:rPr lang="en-US" sz="850" b="1" dirty="0">
                <a:solidFill>
                  <a:srgbClr val="6A9BB0"/>
                </a:solidFill>
              </a:rPr>
              <a:t>Epoch 2</a:t>
            </a:r>
            <a:endParaRPr lang="en-US" sz="850" dirty="0"/>
          </a:p>
        </p:txBody>
      </p:sp>
      <p:sp>
        <p:nvSpPr>
          <p:cNvPr id="55" name="Text 53"/>
          <p:cNvSpPr/>
          <p:nvPr/>
        </p:nvSpPr>
        <p:spPr>
          <a:xfrm>
            <a:off x="6885432" y="2724912"/>
            <a:ext cx="1737360" cy="164592"/>
          </a:xfrm>
          <a:prstGeom prst="rect">
            <a:avLst/>
          </a:prstGeom>
          <a:noFill/>
          <a:ln/>
        </p:spPr>
        <p:txBody>
          <a:bodyPr wrap="square" lIns="0" tIns="0" rIns="0" bIns="0" rtlCol="0" anchor="ctr"/>
          <a:lstStyle/>
          <a:p>
            <a:pPr indent="0" marL="0">
              <a:buNone/>
            </a:pPr>
            <a:r>
              <a:rPr lang="en-US" sz="850" dirty="0">
                <a:solidFill>
                  <a:srgbClr val="8AACBC"/>
                </a:solidFill>
              </a:rPr>
              <a:t>0.34       0.29     89.1%</a:t>
            </a:r>
            <a:endParaRPr lang="en-US" sz="850" dirty="0"/>
          </a:p>
        </p:txBody>
      </p:sp>
      <p:sp>
        <p:nvSpPr>
          <p:cNvPr id="56" name="Shape 54"/>
          <p:cNvSpPr/>
          <p:nvPr/>
        </p:nvSpPr>
        <p:spPr>
          <a:xfrm>
            <a:off x="6830568" y="3054096"/>
            <a:ext cx="1883664" cy="475488"/>
          </a:xfrm>
          <a:prstGeom prst="rect">
            <a:avLst/>
          </a:prstGeom>
          <a:solidFill>
            <a:srgbClr val="0D2236"/>
          </a:solidFill>
          <a:ln w="6350">
            <a:solidFill>
              <a:srgbClr val="1A4060"/>
            </a:solidFill>
            <a:prstDash val="solid"/>
          </a:ln>
        </p:spPr>
      </p:sp>
      <p:sp>
        <p:nvSpPr>
          <p:cNvPr id="57" name="Text 55"/>
          <p:cNvSpPr/>
          <p:nvPr/>
        </p:nvSpPr>
        <p:spPr>
          <a:xfrm>
            <a:off x="6885432" y="3108960"/>
            <a:ext cx="640080" cy="164592"/>
          </a:xfrm>
          <a:prstGeom prst="rect">
            <a:avLst/>
          </a:prstGeom>
          <a:noFill/>
          <a:ln/>
        </p:spPr>
        <p:txBody>
          <a:bodyPr wrap="square" lIns="0" tIns="0" rIns="0" bIns="0" rtlCol="0" anchor="ctr"/>
          <a:lstStyle/>
          <a:p>
            <a:pPr indent="0" marL="0">
              <a:buNone/>
            </a:pPr>
            <a:r>
              <a:rPr lang="en-US" sz="850" b="1" dirty="0">
                <a:solidFill>
                  <a:srgbClr val="6A9BB0"/>
                </a:solidFill>
              </a:rPr>
              <a:t>Epoch 3</a:t>
            </a:r>
            <a:endParaRPr lang="en-US" sz="850" dirty="0"/>
          </a:p>
        </p:txBody>
      </p:sp>
      <p:sp>
        <p:nvSpPr>
          <p:cNvPr id="58" name="Text 56"/>
          <p:cNvSpPr/>
          <p:nvPr/>
        </p:nvSpPr>
        <p:spPr>
          <a:xfrm>
            <a:off x="6885432" y="3291840"/>
            <a:ext cx="1737360" cy="164592"/>
          </a:xfrm>
          <a:prstGeom prst="rect">
            <a:avLst/>
          </a:prstGeom>
          <a:noFill/>
          <a:ln/>
        </p:spPr>
        <p:txBody>
          <a:bodyPr wrap="square" lIns="0" tIns="0" rIns="0" bIns="0" rtlCol="0" anchor="ctr"/>
          <a:lstStyle/>
          <a:p>
            <a:pPr indent="0" marL="0">
              <a:buNone/>
            </a:pPr>
            <a:r>
              <a:rPr lang="en-US" sz="850" dirty="0">
                <a:solidFill>
                  <a:srgbClr val="8AACBC"/>
                </a:solidFill>
              </a:rPr>
              <a:t>0.21       0.24     89.8%</a:t>
            </a:r>
            <a:endParaRPr lang="en-US" sz="850" dirty="0"/>
          </a:p>
        </p:txBody>
      </p:sp>
      <p:sp>
        <p:nvSpPr>
          <p:cNvPr id="59" name="Shape 57"/>
          <p:cNvSpPr/>
          <p:nvPr/>
        </p:nvSpPr>
        <p:spPr>
          <a:xfrm>
            <a:off x="6830568" y="3621024"/>
            <a:ext cx="1883664" cy="475488"/>
          </a:xfrm>
          <a:prstGeom prst="rect">
            <a:avLst/>
          </a:prstGeom>
          <a:solidFill>
            <a:srgbClr val="133548"/>
          </a:solidFill>
          <a:ln w="19050">
            <a:solidFill>
              <a:srgbClr val="F4A03A"/>
            </a:solidFill>
            <a:prstDash val="solid"/>
          </a:ln>
        </p:spPr>
      </p:sp>
      <p:sp>
        <p:nvSpPr>
          <p:cNvPr id="60" name="Text 58"/>
          <p:cNvSpPr/>
          <p:nvPr/>
        </p:nvSpPr>
        <p:spPr>
          <a:xfrm>
            <a:off x="6885432" y="3675888"/>
            <a:ext cx="640080" cy="164592"/>
          </a:xfrm>
          <a:prstGeom prst="rect">
            <a:avLst/>
          </a:prstGeom>
          <a:noFill/>
          <a:ln/>
        </p:spPr>
        <p:txBody>
          <a:bodyPr wrap="square" lIns="0" tIns="0" rIns="0" bIns="0" rtlCol="0" anchor="ctr"/>
          <a:lstStyle/>
          <a:p>
            <a:pPr indent="0" marL="0">
              <a:buNone/>
            </a:pPr>
            <a:r>
              <a:rPr lang="en-US" sz="850" b="1" dirty="0">
                <a:solidFill>
                  <a:srgbClr val="F4A03A"/>
                </a:solidFill>
              </a:rPr>
              <a:t>Epoch 4</a:t>
            </a:r>
            <a:endParaRPr lang="en-US" sz="850" dirty="0"/>
          </a:p>
        </p:txBody>
      </p:sp>
      <p:sp>
        <p:nvSpPr>
          <p:cNvPr id="61" name="Text 59"/>
          <p:cNvSpPr/>
          <p:nvPr/>
        </p:nvSpPr>
        <p:spPr>
          <a:xfrm>
            <a:off x="6885432" y="3858768"/>
            <a:ext cx="1737360" cy="164592"/>
          </a:xfrm>
          <a:prstGeom prst="rect">
            <a:avLst/>
          </a:prstGeom>
          <a:noFill/>
          <a:ln/>
        </p:spPr>
        <p:txBody>
          <a:bodyPr wrap="square" lIns="0" tIns="0" rIns="0" bIns="0" rtlCol="0" anchor="ctr"/>
          <a:lstStyle/>
          <a:p>
            <a:pPr indent="0" marL="0">
              <a:buNone/>
            </a:pPr>
            <a:r>
              <a:rPr lang="en-US" sz="850" dirty="0">
                <a:solidFill>
                  <a:srgbClr val="9FCFE0"/>
                </a:solidFill>
              </a:rPr>
              <a:t>0.15       0.23     90.1%</a:t>
            </a:r>
            <a:endParaRPr lang="en-US" sz="850" dirty="0"/>
          </a:p>
        </p:txBody>
      </p:sp>
      <p:sp>
        <p:nvSpPr>
          <p:cNvPr id="62" name="Text 60"/>
          <p:cNvSpPr/>
          <p:nvPr/>
        </p:nvSpPr>
        <p:spPr>
          <a:xfrm>
            <a:off x="8138160" y="3776472"/>
            <a:ext cx="548640" cy="164592"/>
          </a:xfrm>
          <a:prstGeom prst="rect">
            <a:avLst/>
          </a:prstGeom>
          <a:noFill/>
          <a:ln/>
        </p:spPr>
        <p:txBody>
          <a:bodyPr wrap="square" lIns="0" tIns="0" rIns="0" bIns="0" rtlCol="0" anchor="ctr"/>
          <a:lstStyle/>
          <a:p>
            <a:pPr indent="0" marL="0">
              <a:buNone/>
            </a:pPr>
            <a:r>
              <a:rPr lang="en-US" sz="750" b="1" dirty="0">
                <a:solidFill>
                  <a:srgbClr val="F4A03A"/>
                </a:solidFill>
              </a:rPr>
              <a:t>← BEST</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RESULTS</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BERT Outperforms All Approaches by a Clear Margin</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a:t>
            </a:r>
            <a:endParaRPr lang="en-US" sz="850" dirty="0"/>
          </a:p>
        </p:txBody>
      </p:sp>
      <p:graphicFrame>
        <p:nvGraphicFramePr>
          <p:cNvPr id="8" name="Chart 0" descr=""/>
          <p:cNvGraphicFramePr/>
          <p:nvPr/>
        </p:nvGraphicFramePr>
        <p:xfrm>
          <a:off x="347472" y="1417320"/>
          <a:ext cx="5029200" cy="324612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5577840" y="1417320"/>
            <a:ext cx="3200400" cy="3246120"/>
          </a:xfrm>
          <a:prstGeom prst="rect">
            <a:avLst/>
          </a:prstGeom>
          <a:solidFill>
            <a:srgbClr val="0D1F2D"/>
          </a:solidFill>
          <a:ln w="12700">
            <a:solidFill>
              <a:srgbClr val="0D1F2D"/>
            </a:solidFill>
            <a:prstDash val="solid"/>
          </a:ln>
        </p:spPr>
      </p:sp>
      <p:sp>
        <p:nvSpPr>
          <p:cNvPr id="10" name="Text 7"/>
          <p:cNvSpPr/>
          <p:nvPr/>
        </p:nvSpPr>
        <p:spPr>
          <a:xfrm>
            <a:off x="5760720" y="1572768"/>
            <a:ext cx="2834640" cy="292608"/>
          </a:xfrm>
          <a:prstGeom prst="rect">
            <a:avLst/>
          </a:prstGeom>
          <a:noFill/>
          <a:ln/>
        </p:spPr>
        <p:txBody>
          <a:bodyPr wrap="square" lIns="0" tIns="0" rIns="0" bIns="0" rtlCol="0" anchor="ctr"/>
          <a:lstStyle/>
          <a:p>
            <a:pPr indent="0" marL="0">
              <a:buNone/>
            </a:pPr>
            <a:r>
              <a:rPr lang="en-US" sz="1300" b="1" dirty="0">
                <a:solidFill>
                  <a:srgbClr val="F4A03A"/>
                </a:solidFill>
              </a:rPr>
              <a:t>Key Takeaways</a:t>
            </a:r>
            <a:endParaRPr lang="en-US" sz="1300" dirty="0"/>
          </a:p>
        </p:txBody>
      </p:sp>
      <p:sp>
        <p:nvSpPr>
          <p:cNvPr id="11" name="Shape 8"/>
          <p:cNvSpPr/>
          <p:nvPr/>
        </p:nvSpPr>
        <p:spPr>
          <a:xfrm>
            <a:off x="5577840" y="2011680"/>
            <a:ext cx="411480" cy="411480"/>
          </a:xfrm>
          <a:prstGeom prst="rect">
            <a:avLst/>
          </a:prstGeom>
          <a:solidFill>
            <a:srgbClr val="1A3348"/>
          </a:solidFill>
          <a:ln w="12700">
            <a:solidFill>
              <a:srgbClr val="1A3348"/>
            </a:solidFill>
            <a:prstDash val="solid"/>
          </a:ln>
        </p:spPr>
      </p:sp>
      <p:sp>
        <p:nvSpPr>
          <p:cNvPr id="12" name="Text 9"/>
          <p:cNvSpPr/>
          <p:nvPr/>
        </p:nvSpPr>
        <p:spPr>
          <a:xfrm>
            <a:off x="5577840" y="2048256"/>
            <a:ext cx="41148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3" name="Text 10"/>
          <p:cNvSpPr/>
          <p:nvPr/>
        </p:nvSpPr>
        <p:spPr>
          <a:xfrm>
            <a:off x="6080760" y="2048256"/>
            <a:ext cx="2578608" cy="548640"/>
          </a:xfrm>
          <a:prstGeom prst="rect">
            <a:avLst/>
          </a:prstGeom>
          <a:noFill/>
          <a:ln/>
        </p:spPr>
        <p:txBody>
          <a:bodyPr wrap="square" lIns="0" tIns="0" rIns="0" bIns="0" rtlCol="0" anchor="ctr"/>
          <a:lstStyle/>
          <a:p>
            <a:pPr indent="0" marL="0">
              <a:buNone/>
            </a:pPr>
            <a:r>
              <a:rPr lang="en-US" sz="1050" dirty="0">
                <a:solidFill>
                  <a:srgbClr val="FFFFFF"/>
                </a:solidFill>
              </a:rPr>
              <a:t>Each model generation adds real accuracy. No step is wasted.</a:t>
            </a:r>
            <a:endParaRPr lang="en-US" sz="1050" dirty="0"/>
          </a:p>
        </p:txBody>
      </p:sp>
      <p:sp>
        <p:nvSpPr>
          <p:cNvPr id="14" name="Shape 11"/>
          <p:cNvSpPr/>
          <p:nvPr/>
        </p:nvSpPr>
        <p:spPr>
          <a:xfrm>
            <a:off x="5577840" y="2724912"/>
            <a:ext cx="411480" cy="411480"/>
          </a:xfrm>
          <a:prstGeom prst="rect">
            <a:avLst/>
          </a:prstGeom>
          <a:solidFill>
            <a:srgbClr val="1A3348"/>
          </a:solidFill>
          <a:ln w="12700">
            <a:solidFill>
              <a:srgbClr val="1A3348"/>
            </a:solidFill>
            <a:prstDash val="solid"/>
          </a:ln>
        </p:spPr>
      </p:sp>
      <p:sp>
        <p:nvSpPr>
          <p:cNvPr id="15" name="Text 12"/>
          <p:cNvSpPr/>
          <p:nvPr/>
        </p:nvSpPr>
        <p:spPr>
          <a:xfrm>
            <a:off x="5577840" y="2761488"/>
            <a:ext cx="41148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6" name="Text 13"/>
          <p:cNvSpPr/>
          <p:nvPr/>
        </p:nvSpPr>
        <p:spPr>
          <a:xfrm>
            <a:off x="6080760" y="2761488"/>
            <a:ext cx="2578608" cy="548640"/>
          </a:xfrm>
          <a:prstGeom prst="rect">
            <a:avLst/>
          </a:prstGeom>
          <a:noFill/>
          <a:ln/>
        </p:spPr>
        <p:txBody>
          <a:bodyPr wrap="square" lIns="0" tIns="0" rIns="0" bIns="0" rtlCol="0" anchor="ctr"/>
          <a:lstStyle/>
          <a:p>
            <a:pPr indent="0" marL="0">
              <a:buNone/>
            </a:pPr>
            <a:r>
              <a:rPr lang="en-US" sz="1050" dirty="0">
                <a:solidFill>
                  <a:srgbClr val="FFFFFF"/>
                </a:solidFill>
              </a:rPr>
              <a:t>BERT at 90% is 17 points better than our starting baseline.</a:t>
            </a:r>
            <a:endParaRPr lang="en-US" sz="1050" dirty="0"/>
          </a:p>
        </p:txBody>
      </p:sp>
      <p:sp>
        <p:nvSpPr>
          <p:cNvPr id="17" name="Shape 14"/>
          <p:cNvSpPr/>
          <p:nvPr/>
        </p:nvSpPr>
        <p:spPr>
          <a:xfrm>
            <a:off x="5577840" y="3438144"/>
            <a:ext cx="411480" cy="411480"/>
          </a:xfrm>
          <a:prstGeom prst="rect">
            <a:avLst/>
          </a:prstGeom>
          <a:solidFill>
            <a:srgbClr val="1A3348"/>
          </a:solidFill>
          <a:ln w="12700">
            <a:solidFill>
              <a:srgbClr val="1A3348"/>
            </a:solidFill>
            <a:prstDash val="solid"/>
          </a:ln>
        </p:spPr>
      </p:sp>
      <p:sp>
        <p:nvSpPr>
          <p:cNvPr id="18" name="Text 15"/>
          <p:cNvSpPr/>
          <p:nvPr/>
        </p:nvSpPr>
        <p:spPr>
          <a:xfrm>
            <a:off x="5577840" y="3474720"/>
            <a:ext cx="41148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9" name="Text 16"/>
          <p:cNvSpPr/>
          <p:nvPr/>
        </p:nvSpPr>
        <p:spPr>
          <a:xfrm>
            <a:off x="6080760" y="3474720"/>
            <a:ext cx="2578608" cy="548640"/>
          </a:xfrm>
          <a:prstGeom prst="rect">
            <a:avLst/>
          </a:prstGeom>
          <a:noFill/>
          <a:ln/>
        </p:spPr>
        <p:txBody>
          <a:bodyPr wrap="square" lIns="0" tIns="0" rIns="0" bIns="0" rtlCol="0" anchor="ctr"/>
          <a:lstStyle/>
          <a:p>
            <a:pPr indent="0" marL="0">
              <a:buNone/>
            </a:pPr>
            <a:r>
              <a:rPr lang="en-US" sz="1050" dirty="0">
                <a:solidFill>
                  <a:srgbClr val="FFFFFF"/>
                </a:solidFill>
              </a:rPr>
              <a:t>MiniLM at 85% is the right choice if you need speed over perfection.</a:t>
            </a:r>
            <a:endParaRPr lang="en-US" sz="1050" dirty="0"/>
          </a:p>
        </p:txBody>
      </p:sp>
      <p:sp>
        <p:nvSpPr>
          <p:cNvPr id="20" name="Shape 17"/>
          <p:cNvSpPr/>
          <p:nvPr/>
        </p:nvSpPr>
        <p:spPr>
          <a:xfrm>
            <a:off x="5577840" y="4151376"/>
            <a:ext cx="411480" cy="411480"/>
          </a:xfrm>
          <a:prstGeom prst="rect">
            <a:avLst/>
          </a:prstGeom>
          <a:solidFill>
            <a:srgbClr val="1A3348"/>
          </a:solidFill>
          <a:ln w="12700">
            <a:solidFill>
              <a:srgbClr val="1A3348"/>
            </a:solidFill>
            <a:prstDash val="solid"/>
          </a:ln>
        </p:spPr>
      </p:sp>
      <p:sp>
        <p:nvSpPr>
          <p:cNvPr id="21" name="Text 18"/>
          <p:cNvSpPr/>
          <p:nvPr/>
        </p:nvSpPr>
        <p:spPr>
          <a:xfrm>
            <a:off x="5577840" y="4187952"/>
            <a:ext cx="411480" cy="347472"/>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2" name="Text 19"/>
          <p:cNvSpPr/>
          <p:nvPr/>
        </p:nvSpPr>
        <p:spPr>
          <a:xfrm>
            <a:off x="6080760" y="4187952"/>
            <a:ext cx="2578608" cy="548640"/>
          </a:xfrm>
          <a:prstGeom prst="rect">
            <a:avLst/>
          </a:prstGeom>
          <a:noFill/>
          <a:ln/>
        </p:spPr>
        <p:txBody>
          <a:bodyPr wrap="square" lIns="0" tIns="0" rIns="0" bIns="0" rtlCol="0" anchor="ctr"/>
          <a:lstStyle/>
          <a:p>
            <a:pPr indent="0" marL="0">
              <a:buNone/>
            </a:pPr>
            <a:r>
              <a:rPr lang="en-US" sz="1050" dirty="0">
                <a:solidFill>
                  <a:srgbClr val="FFFFFF"/>
                </a:solidFill>
              </a:rPr>
              <a:t>The gap from 85% → 90% is fine-tuning — adapting the model to medical language.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A"/>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BUSINESS IMPACT</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1B2E3C"/>
                </a:solidFill>
                <a:latin typeface="Calibri" pitchFamily="34" charset="0"/>
                <a:ea typeface="Calibri" pitchFamily="34" charset="-122"/>
                <a:cs typeface="Calibri" pitchFamily="34" charset="-120"/>
              </a:rPr>
              <a:t>What This Enables for the Organisation</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a:t>
            </a:r>
            <a:endParaRPr lang="en-US" sz="850" dirty="0"/>
          </a:p>
        </p:txBody>
      </p:sp>
      <p:sp>
        <p:nvSpPr>
          <p:cNvPr id="8" name="Shape 6"/>
          <p:cNvSpPr/>
          <p:nvPr/>
        </p:nvSpPr>
        <p:spPr>
          <a:xfrm>
            <a:off x="347472" y="138988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9" name="Shape 7"/>
          <p:cNvSpPr/>
          <p:nvPr/>
        </p:nvSpPr>
        <p:spPr>
          <a:xfrm>
            <a:off x="347472" y="1389888"/>
            <a:ext cx="54864" cy="1572768"/>
          </a:xfrm>
          <a:prstGeom prst="rect">
            <a:avLst/>
          </a:prstGeom>
          <a:solidFill>
            <a:srgbClr val="F4A03A"/>
          </a:solidFill>
          <a:ln w="12700">
            <a:solidFill>
              <a:srgbClr val="F4A03A"/>
            </a:solidFill>
            <a:prstDash val="solid"/>
          </a:ln>
        </p:spPr>
      </p:sp>
      <p:sp>
        <p:nvSpPr>
          <p:cNvPr id="10" name="Text 8"/>
          <p:cNvSpPr/>
          <p:nvPr/>
        </p:nvSpPr>
        <p:spPr>
          <a:xfrm>
            <a:off x="530352" y="1527048"/>
            <a:ext cx="2340864" cy="365760"/>
          </a:xfrm>
          <a:prstGeom prst="rect">
            <a:avLst/>
          </a:prstGeom>
          <a:noFill/>
          <a:ln/>
        </p:spPr>
        <p:txBody>
          <a:bodyPr wrap="square" lIns="0" tIns="0" rIns="0" bIns="0" rtlCol="0" anchor="ctr"/>
          <a:lstStyle/>
          <a:p>
            <a:pPr indent="0" marL="0">
              <a:buNone/>
            </a:pPr>
            <a:r>
              <a:rPr lang="en-US" sz="1150" b="1" dirty="0">
                <a:solidFill>
                  <a:srgbClr val="0A6E8A"/>
                </a:solidFill>
              </a:rPr>
              <a:t>⏱️  10× Faster Literature Review</a:t>
            </a:r>
            <a:endParaRPr lang="en-US" sz="1150" dirty="0"/>
          </a:p>
        </p:txBody>
      </p:sp>
      <p:sp>
        <p:nvSpPr>
          <p:cNvPr id="11" name="Text 9"/>
          <p:cNvSpPr/>
          <p:nvPr/>
        </p:nvSpPr>
        <p:spPr>
          <a:xfrm>
            <a:off x="530352" y="1911096"/>
            <a:ext cx="2340864" cy="960120"/>
          </a:xfrm>
          <a:prstGeom prst="rect">
            <a:avLst/>
          </a:prstGeom>
          <a:noFill/>
          <a:ln/>
        </p:spPr>
        <p:txBody>
          <a:bodyPr wrap="square" lIns="0" tIns="0" rIns="0" bIns="0" rtlCol="0" anchor="ctr"/>
          <a:lstStyle/>
          <a:p>
            <a:pPr indent="0" marL="0">
              <a:buNone/>
            </a:pPr>
            <a:r>
              <a:rPr lang="en-US" sz="1000" dirty="0">
                <a:solidFill>
                  <a:srgbClr val="1B2E3C"/>
                </a:solidFill>
              </a:rPr>
              <a:t>Researchers can filter abstracts by section in seconds. No more reading entire papers to find one relevant result.</a:t>
            </a:r>
            <a:endParaRPr lang="en-US" sz="1000" dirty="0"/>
          </a:p>
        </p:txBody>
      </p:sp>
      <p:sp>
        <p:nvSpPr>
          <p:cNvPr id="12" name="Shape 10"/>
          <p:cNvSpPr/>
          <p:nvPr/>
        </p:nvSpPr>
        <p:spPr>
          <a:xfrm>
            <a:off x="3182112" y="138988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13" name="Shape 11"/>
          <p:cNvSpPr/>
          <p:nvPr/>
        </p:nvSpPr>
        <p:spPr>
          <a:xfrm>
            <a:off x="3182112" y="1389888"/>
            <a:ext cx="54864" cy="1572768"/>
          </a:xfrm>
          <a:prstGeom prst="rect">
            <a:avLst/>
          </a:prstGeom>
          <a:solidFill>
            <a:srgbClr val="F4A03A"/>
          </a:solidFill>
          <a:ln w="12700">
            <a:solidFill>
              <a:srgbClr val="F4A03A"/>
            </a:solidFill>
            <a:prstDash val="solid"/>
          </a:ln>
        </p:spPr>
      </p:sp>
      <p:sp>
        <p:nvSpPr>
          <p:cNvPr id="14" name="Text 12"/>
          <p:cNvSpPr/>
          <p:nvPr/>
        </p:nvSpPr>
        <p:spPr>
          <a:xfrm>
            <a:off x="3364992" y="1527048"/>
            <a:ext cx="2340864" cy="365760"/>
          </a:xfrm>
          <a:prstGeom prst="rect">
            <a:avLst/>
          </a:prstGeom>
          <a:noFill/>
          <a:ln/>
        </p:spPr>
        <p:txBody>
          <a:bodyPr wrap="square" lIns="0" tIns="0" rIns="0" bIns="0" rtlCol="0" anchor="ctr"/>
          <a:lstStyle/>
          <a:p>
            <a:pPr indent="0" marL="0">
              <a:buNone/>
            </a:pPr>
            <a:r>
              <a:rPr lang="en-US" sz="1150" b="1" dirty="0">
                <a:solidFill>
                  <a:srgbClr val="1A9CB0"/>
                </a:solidFill>
              </a:rPr>
              <a:t>🔍  Section-Level Search</a:t>
            </a:r>
            <a:endParaRPr lang="en-US" sz="1150" dirty="0"/>
          </a:p>
        </p:txBody>
      </p:sp>
      <p:sp>
        <p:nvSpPr>
          <p:cNvPr id="15" name="Text 13"/>
          <p:cNvSpPr/>
          <p:nvPr/>
        </p:nvSpPr>
        <p:spPr>
          <a:xfrm>
            <a:off x="3364992" y="1911096"/>
            <a:ext cx="2340864" cy="960120"/>
          </a:xfrm>
          <a:prstGeom prst="rect">
            <a:avLst/>
          </a:prstGeom>
          <a:noFill/>
          <a:ln/>
        </p:spPr>
        <p:txBody>
          <a:bodyPr wrap="square" lIns="0" tIns="0" rIns="0" bIns="0" rtlCol="0" anchor="ctr"/>
          <a:lstStyle/>
          <a:p>
            <a:pPr indent="0" marL="0">
              <a:buNone/>
            </a:pPr>
            <a:r>
              <a:rPr lang="en-US" sz="1000" dirty="0">
                <a:solidFill>
                  <a:srgbClr val="1B2E3C"/>
                </a:solidFill>
              </a:rPr>
              <a:t>'Show me only RESULTS sentences about mortality in knee OA trials.' This query is impossible today. Our model makes it possible.</a:t>
            </a:r>
            <a:endParaRPr lang="en-US" sz="1000" dirty="0"/>
          </a:p>
        </p:txBody>
      </p:sp>
      <p:sp>
        <p:nvSpPr>
          <p:cNvPr id="16" name="Shape 14"/>
          <p:cNvSpPr/>
          <p:nvPr/>
        </p:nvSpPr>
        <p:spPr>
          <a:xfrm>
            <a:off x="6016752" y="138988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17" name="Shape 15"/>
          <p:cNvSpPr/>
          <p:nvPr/>
        </p:nvSpPr>
        <p:spPr>
          <a:xfrm>
            <a:off x="6016752" y="1389888"/>
            <a:ext cx="54864" cy="1572768"/>
          </a:xfrm>
          <a:prstGeom prst="rect">
            <a:avLst/>
          </a:prstGeom>
          <a:solidFill>
            <a:srgbClr val="F4A03A"/>
          </a:solidFill>
          <a:ln w="12700">
            <a:solidFill>
              <a:srgbClr val="F4A03A"/>
            </a:solidFill>
            <a:prstDash val="solid"/>
          </a:ln>
        </p:spPr>
      </p:sp>
      <p:sp>
        <p:nvSpPr>
          <p:cNvPr id="18" name="Text 16"/>
          <p:cNvSpPr/>
          <p:nvPr/>
        </p:nvSpPr>
        <p:spPr>
          <a:xfrm>
            <a:off x="6199632" y="1527048"/>
            <a:ext cx="2340864" cy="365760"/>
          </a:xfrm>
          <a:prstGeom prst="rect">
            <a:avLst/>
          </a:prstGeom>
          <a:noFill/>
          <a:ln/>
        </p:spPr>
        <p:txBody>
          <a:bodyPr wrap="square" lIns="0" tIns="0" rIns="0" bIns="0" rtlCol="0" anchor="ctr"/>
          <a:lstStyle/>
          <a:p>
            <a:pPr indent="0" marL="0">
              <a:buNone/>
            </a:pPr>
            <a:r>
              <a:rPr lang="en-US" sz="1150" b="1" dirty="0">
                <a:solidFill>
                  <a:srgbClr val="0A6E8A"/>
                </a:solidFill>
              </a:rPr>
              <a:t>🏥  Faster Clinical Evidence Review</a:t>
            </a:r>
            <a:endParaRPr lang="en-US" sz="1150" dirty="0"/>
          </a:p>
        </p:txBody>
      </p:sp>
      <p:sp>
        <p:nvSpPr>
          <p:cNvPr id="19" name="Text 17"/>
          <p:cNvSpPr/>
          <p:nvPr/>
        </p:nvSpPr>
        <p:spPr>
          <a:xfrm>
            <a:off x="6199632" y="1911096"/>
            <a:ext cx="2340864" cy="960120"/>
          </a:xfrm>
          <a:prstGeom prst="rect">
            <a:avLst/>
          </a:prstGeom>
          <a:noFill/>
          <a:ln/>
        </p:spPr>
        <p:txBody>
          <a:bodyPr wrap="square" lIns="0" tIns="0" rIns="0" bIns="0" rtlCol="0" anchor="ctr"/>
          <a:lstStyle/>
          <a:p>
            <a:pPr indent="0" marL="0">
              <a:buNone/>
            </a:pPr>
            <a:r>
              <a:rPr lang="en-US" sz="1000" dirty="0">
                <a:solidFill>
                  <a:srgbClr val="1B2E3C"/>
                </a:solidFill>
              </a:rPr>
              <a:t>Clinicians evaluating treatment options see RESULTS and CONCLUSIONS first — without reading through pages of Methods.</a:t>
            </a:r>
            <a:endParaRPr lang="en-US" sz="1000" dirty="0"/>
          </a:p>
        </p:txBody>
      </p:sp>
      <p:sp>
        <p:nvSpPr>
          <p:cNvPr id="20" name="Shape 18"/>
          <p:cNvSpPr/>
          <p:nvPr/>
        </p:nvSpPr>
        <p:spPr>
          <a:xfrm>
            <a:off x="347472" y="308152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21" name="Shape 19"/>
          <p:cNvSpPr/>
          <p:nvPr/>
        </p:nvSpPr>
        <p:spPr>
          <a:xfrm>
            <a:off x="347472" y="3081528"/>
            <a:ext cx="54864" cy="1572768"/>
          </a:xfrm>
          <a:prstGeom prst="rect">
            <a:avLst/>
          </a:prstGeom>
          <a:solidFill>
            <a:srgbClr val="F4A03A"/>
          </a:solidFill>
          <a:ln w="12700">
            <a:solidFill>
              <a:srgbClr val="F4A03A"/>
            </a:solidFill>
            <a:prstDash val="solid"/>
          </a:ln>
        </p:spPr>
      </p:sp>
      <p:sp>
        <p:nvSpPr>
          <p:cNvPr id="22" name="Text 20"/>
          <p:cNvSpPr/>
          <p:nvPr/>
        </p:nvSpPr>
        <p:spPr>
          <a:xfrm>
            <a:off x="530352" y="3218688"/>
            <a:ext cx="2340864" cy="365760"/>
          </a:xfrm>
          <a:prstGeom prst="rect">
            <a:avLst/>
          </a:prstGeom>
          <a:noFill/>
          <a:ln/>
        </p:spPr>
        <p:txBody>
          <a:bodyPr wrap="square" lIns="0" tIns="0" rIns="0" bIns="0" rtlCol="0" anchor="ctr"/>
          <a:lstStyle/>
          <a:p>
            <a:pPr indent="0" marL="0">
              <a:buNone/>
            </a:pPr>
            <a:r>
              <a:rPr lang="en-US" sz="1150" b="1" dirty="0">
                <a:solidFill>
                  <a:srgbClr val="1A9CB0"/>
                </a:solidFill>
              </a:rPr>
              <a:t>🌐  Scales to Any Domain</a:t>
            </a:r>
            <a:endParaRPr lang="en-US" sz="1150" dirty="0"/>
          </a:p>
        </p:txBody>
      </p:sp>
      <p:sp>
        <p:nvSpPr>
          <p:cNvPr id="23" name="Text 21"/>
          <p:cNvSpPr/>
          <p:nvPr/>
        </p:nvSpPr>
        <p:spPr>
          <a:xfrm>
            <a:off x="530352" y="3602736"/>
            <a:ext cx="2340864" cy="960120"/>
          </a:xfrm>
          <a:prstGeom prst="rect">
            <a:avLst/>
          </a:prstGeom>
          <a:noFill/>
          <a:ln/>
        </p:spPr>
        <p:txBody>
          <a:bodyPr wrap="square" lIns="0" tIns="0" rIns="0" bIns="0" rtlCol="0" anchor="ctr"/>
          <a:lstStyle/>
          <a:p>
            <a:pPr indent="0" marL="0">
              <a:buNone/>
            </a:pPr>
            <a:r>
              <a:rPr lang="en-US" sz="1000" dirty="0">
                <a:solidFill>
                  <a:srgbClr val="1B2E3C"/>
                </a:solidFill>
              </a:rPr>
              <a:t>The same pipeline works for legal, financial, or regulatory documents — anywhere structured text follows consistent conventions.</a:t>
            </a:r>
            <a:endParaRPr lang="en-US" sz="1000" dirty="0"/>
          </a:p>
        </p:txBody>
      </p:sp>
      <p:sp>
        <p:nvSpPr>
          <p:cNvPr id="24" name="Shape 22"/>
          <p:cNvSpPr/>
          <p:nvPr/>
        </p:nvSpPr>
        <p:spPr>
          <a:xfrm>
            <a:off x="3182112" y="308152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25" name="Shape 23"/>
          <p:cNvSpPr/>
          <p:nvPr/>
        </p:nvSpPr>
        <p:spPr>
          <a:xfrm>
            <a:off x="3182112" y="3081528"/>
            <a:ext cx="54864" cy="1572768"/>
          </a:xfrm>
          <a:prstGeom prst="rect">
            <a:avLst/>
          </a:prstGeom>
          <a:solidFill>
            <a:srgbClr val="F4A03A"/>
          </a:solidFill>
          <a:ln w="12700">
            <a:solidFill>
              <a:srgbClr val="F4A03A"/>
            </a:solidFill>
            <a:prstDash val="solid"/>
          </a:ln>
        </p:spPr>
      </p:sp>
      <p:sp>
        <p:nvSpPr>
          <p:cNvPr id="26" name="Text 24"/>
          <p:cNvSpPr/>
          <p:nvPr/>
        </p:nvSpPr>
        <p:spPr>
          <a:xfrm>
            <a:off x="3364992" y="3218688"/>
            <a:ext cx="2340864" cy="365760"/>
          </a:xfrm>
          <a:prstGeom prst="rect">
            <a:avLst/>
          </a:prstGeom>
          <a:noFill/>
          <a:ln/>
        </p:spPr>
        <p:txBody>
          <a:bodyPr wrap="square" lIns="0" tIns="0" rIns="0" bIns="0" rtlCol="0" anchor="ctr"/>
          <a:lstStyle/>
          <a:p>
            <a:pPr indent="0" marL="0">
              <a:buNone/>
            </a:pPr>
            <a:r>
              <a:rPr lang="en-US" sz="1150" b="1" dirty="0">
                <a:solidFill>
                  <a:srgbClr val="0A6E8A"/>
                </a:solidFill>
              </a:rPr>
              <a:t>🔌  API-Ready</a:t>
            </a:r>
            <a:endParaRPr lang="en-US" sz="1150" dirty="0"/>
          </a:p>
        </p:txBody>
      </p:sp>
      <p:sp>
        <p:nvSpPr>
          <p:cNvPr id="27" name="Text 25"/>
          <p:cNvSpPr/>
          <p:nvPr/>
        </p:nvSpPr>
        <p:spPr>
          <a:xfrm>
            <a:off x="3364992" y="3602736"/>
            <a:ext cx="2340864" cy="960120"/>
          </a:xfrm>
          <a:prstGeom prst="rect">
            <a:avLst/>
          </a:prstGeom>
          <a:noFill/>
          <a:ln/>
        </p:spPr>
        <p:txBody>
          <a:bodyPr wrap="square" lIns="0" tIns="0" rIns="0" bIns="0" rtlCol="0" anchor="ctr"/>
          <a:lstStyle/>
          <a:p>
            <a:pPr indent="0" marL="0">
              <a:buNone/>
            </a:pPr>
            <a:r>
              <a:rPr lang="en-US" sz="1000" dirty="0">
                <a:solidFill>
                  <a:srgbClr val="1B2E3C"/>
                </a:solidFill>
              </a:rPr>
              <a:t>Wrap the BERT model in a REST endpoint. Any downstream system — EHR, search engine, dashboard — can call it in real time.</a:t>
            </a:r>
            <a:endParaRPr lang="en-US" sz="1000" dirty="0"/>
          </a:p>
        </p:txBody>
      </p:sp>
      <p:sp>
        <p:nvSpPr>
          <p:cNvPr id="28" name="Shape 26"/>
          <p:cNvSpPr/>
          <p:nvPr/>
        </p:nvSpPr>
        <p:spPr>
          <a:xfrm>
            <a:off x="6016752" y="3081528"/>
            <a:ext cx="2651760" cy="1572768"/>
          </a:xfrm>
          <a:prstGeom prst="rect">
            <a:avLst/>
          </a:prstGeom>
          <a:solidFill>
            <a:srgbClr val="FFFFFF"/>
          </a:solidFill>
          <a:ln w="12700">
            <a:solidFill>
              <a:srgbClr val="CCE0EA"/>
            </a:solidFill>
            <a:prstDash val="solid"/>
          </a:ln>
          <a:effectLst>
            <a:outerShdw sx="100000" sy="100000" kx="0" ky="0" algn="bl" rotWithShape="0" blurRad="101600" dist="38100" dir="8100000">
              <a:srgbClr val="000000">
                <a:alpha val="10000"/>
              </a:srgbClr>
            </a:outerShdw>
          </a:effectLst>
        </p:spPr>
      </p:sp>
      <p:sp>
        <p:nvSpPr>
          <p:cNvPr id="29" name="Shape 27"/>
          <p:cNvSpPr/>
          <p:nvPr/>
        </p:nvSpPr>
        <p:spPr>
          <a:xfrm>
            <a:off x="6016752" y="3081528"/>
            <a:ext cx="54864" cy="1572768"/>
          </a:xfrm>
          <a:prstGeom prst="rect">
            <a:avLst/>
          </a:prstGeom>
          <a:solidFill>
            <a:srgbClr val="F4A03A"/>
          </a:solidFill>
          <a:ln w="12700">
            <a:solidFill>
              <a:srgbClr val="F4A03A"/>
            </a:solidFill>
            <a:prstDash val="solid"/>
          </a:ln>
        </p:spPr>
      </p:sp>
      <p:sp>
        <p:nvSpPr>
          <p:cNvPr id="30" name="Text 28"/>
          <p:cNvSpPr/>
          <p:nvPr/>
        </p:nvSpPr>
        <p:spPr>
          <a:xfrm>
            <a:off x="6199632" y="3218688"/>
            <a:ext cx="2340864" cy="365760"/>
          </a:xfrm>
          <a:prstGeom prst="rect">
            <a:avLst/>
          </a:prstGeom>
          <a:noFill/>
          <a:ln/>
        </p:spPr>
        <p:txBody>
          <a:bodyPr wrap="square" lIns="0" tIns="0" rIns="0" bIns="0" rtlCol="0" anchor="ctr"/>
          <a:lstStyle/>
          <a:p>
            <a:pPr indent="0" marL="0">
              <a:buNone/>
            </a:pPr>
            <a:r>
              <a:rPr lang="en-US" sz="1150" b="1" dirty="0">
                <a:solidFill>
                  <a:srgbClr val="1A9CB0"/>
                </a:solidFill>
              </a:rPr>
              <a:t>📊  Auditable &amp; Explainable</a:t>
            </a:r>
            <a:endParaRPr lang="en-US" sz="1150" dirty="0"/>
          </a:p>
        </p:txBody>
      </p:sp>
      <p:sp>
        <p:nvSpPr>
          <p:cNvPr id="31" name="Text 29"/>
          <p:cNvSpPr/>
          <p:nvPr/>
        </p:nvSpPr>
        <p:spPr>
          <a:xfrm>
            <a:off x="6199632" y="3602736"/>
            <a:ext cx="2340864" cy="960120"/>
          </a:xfrm>
          <a:prstGeom prst="rect">
            <a:avLst/>
          </a:prstGeom>
          <a:noFill/>
          <a:ln/>
        </p:spPr>
        <p:txBody>
          <a:bodyPr wrap="square" lIns="0" tIns="0" rIns="0" bIns="0" rtlCol="0" anchor="ctr"/>
          <a:lstStyle/>
          <a:p>
            <a:pPr indent="0" marL="0">
              <a:buNone/>
            </a:pPr>
            <a:r>
              <a:rPr lang="en-US" sz="1000" dirty="0">
                <a:solidFill>
                  <a:srgbClr val="1B2E3C"/>
                </a:solidFill>
              </a:rPr>
              <a:t>Every sentence gets a human-readable label. Easy to review, validate, and explain to non-technical stakeholders and regulators.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F2D"/>
        </a:solidFill>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0A6E8A"/>
          </a:solidFill>
          <a:ln w="12700">
            <a:solidFill>
              <a:srgbClr val="0A6E8A"/>
            </a:solidFill>
            <a:prstDash val="solid"/>
          </a:ln>
        </p:spPr>
      </p:sp>
      <p:sp>
        <p:nvSpPr>
          <p:cNvPr id="3" name="Text 1"/>
          <p:cNvSpPr/>
          <p:nvPr/>
        </p:nvSpPr>
        <p:spPr>
          <a:xfrm>
            <a:off x="347472" y="64008"/>
            <a:ext cx="8412480" cy="347472"/>
          </a:xfrm>
          <a:prstGeom prst="rect">
            <a:avLst/>
          </a:prstGeom>
          <a:noFill/>
          <a:ln/>
        </p:spPr>
        <p:txBody>
          <a:bodyPr wrap="square" lIns="0" tIns="0" rIns="0" bIns="0" rtlCol="0" anchor="ctr"/>
          <a:lstStyle/>
          <a:p>
            <a:pPr indent="0" marL="0">
              <a:buNone/>
            </a:pPr>
            <a:r>
              <a:rPr lang="en-US" sz="1000" b="1" spc="300" kern="0" dirty="0">
                <a:solidFill>
                  <a:srgbClr val="FFFFFF"/>
                </a:solidFill>
              </a:rPr>
              <a:t>RECOMMENDATION &amp; NEXT STEPS</a:t>
            </a:r>
            <a:endParaRPr lang="en-US" sz="1000" dirty="0"/>
          </a:p>
        </p:txBody>
      </p:sp>
      <p:sp>
        <p:nvSpPr>
          <p:cNvPr id="4" name="Shape 2"/>
          <p:cNvSpPr/>
          <p:nvPr/>
        </p:nvSpPr>
        <p:spPr>
          <a:xfrm>
            <a:off x="347472" y="548640"/>
            <a:ext cx="54864" cy="640080"/>
          </a:xfrm>
          <a:prstGeom prst="rect">
            <a:avLst/>
          </a:prstGeom>
          <a:solidFill>
            <a:srgbClr val="F4A03A"/>
          </a:solidFill>
          <a:ln w="12700">
            <a:solidFill>
              <a:srgbClr val="F4A03A"/>
            </a:solidFill>
            <a:prstDash val="solid"/>
          </a:ln>
        </p:spPr>
      </p:sp>
      <p:sp>
        <p:nvSpPr>
          <p:cNvPr id="5" name="Text 3"/>
          <p:cNvSpPr/>
          <p:nvPr/>
        </p:nvSpPr>
        <p:spPr>
          <a:xfrm>
            <a:off x="548640" y="530352"/>
            <a:ext cx="8321040" cy="6858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Deploy BERT.  Then Make It Even Better.</a:t>
            </a:r>
            <a:endParaRPr lang="en-US" sz="2800" dirty="0"/>
          </a:p>
        </p:txBody>
      </p:sp>
      <p:sp>
        <p:nvSpPr>
          <p:cNvPr id="6" name="Shape 4"/>
          <p:cNvSpPr/>
          <p:nvPr/>
        </p:nvSpPr>
        <p:spPr>
          <a:xfrm>
            <a:off x="0" y="4892040"/>
            <a:ext cx="9144000" cy="251460"/>
          </a:xfrm>
          <a:prstGeom prst="rect">
            <a:avLst/>
          </a:prstGeom>
          <a:solidFill>
            <a:srgbClr val="0A6E8A"/>
          </a:solidFill>
          <a:ln w="12700">
            <a:solidFill>
              <a:srgbClr val="0A6E8A"/>
            </a:solidFill>
            <a:prstDash val="solid"/>
          </a:ln>
        </p:spPr>
      </p:sp>
      <p:sp>
        <p:nvSpPr>
          <p:cNvPr id="7" name="Text 5"/>
          <p:cNvSpPr/>
          <p:nvPr/>
        </p:nvSpPr>
        <p:spPr>
          <a:xfrm>
            <a:off x="274320" y="4901184"/>
            <a:ext cx="8595360" cy="228600"/>
          </a:xfrm>
          <a:prstGeom prst="rect">
            <a:avLst/>
          </a:prstGeom>
          <a:noFill/>
          <a:ln/>
        </p:spPr>
        <p:txBody>
          <a:bodyPr wrap="square" lIns="0" tIns="0" rIns="0" bIns="0" rtlCol="0" anchor="ctr"/>
          <a:lstStyle/>
          <a:p>
            <a:pPr indent="0" marL="0">
              <a:buNone/>
            </a:pPr>
            <a:r>
              <a:rPr lang="en-US" sz="850" dirty="0">
                <a:solidFill>
                  <a:srgbClr val="8AACBC"/>
                </a:solidFill>
              </a:rPr>
              <a:t>AI Engineer Capstone  |  Sequential Sentence Classification</a:t>
            </a:r>
            <a:endParaRPr lang="en-US" sz="850" dirty="0"/>
          </a:p>
        </p:txBody>
      </p:sp>
      <p:sp>
        <p:nvSpPr>
          <p:cNvPr id="8" name="Shape 6"/>
          <p:cNvSpPr/>
          <p:nvPr/>
        </p:nvSpPr>
        <p:spPr>
          <a:xfrm>
            <a:off x="347472" y="1389888"/>
            <a:ext cx="4023360" cy="1554480"/>
          </a:xfrm>
          <a:prstGeom prst="rect">
            <a:avLst/>
          </a:prstGeom>
          <a:solidFill>
            <a:srgbClr val="F4A03A"/>
          </a:solidFill>
          <a:ln w="12700">
            <a:solidFill>
              <a:srgbClr val="F4A03A"/>
            </a:solidFill>
            <a:prstDash val="solid"/>
          </a:ln>
        </p:spPr>
      </p:sp>
      <p:sp>
        <p:nvSpPr>
          <p:cNvPr id="9" name="Text 7"/>
          <p:cNvSpPr/>
          <p:nvPr/>
        </p:nvSpPr>
        <p:spPr>
          <a:xfrm>
            <a:off x="475488" y="1481328"/>
            <a:ext cx="3749040" cy="310896"/>
          </a:xfrm>
          <a:prstGeom prst="rect">
            <a:avLst/>
          </a:prstGeom>
          <a:noFill/>
          <a:ln/>
        </p:spPr>
        <p:txBody>
          <a:bodyPr wrap="square" lIns="0" tIns="0" rIns="0" bIns="0" rtlCol="0" anchor="ctr"/>
          <a:lstStyle/>
          <a:p>
            <a:pPr indent="0" marL="0">
              <a:buNone/>
            </a:pPr>
            <a:r>
              <a:rPr lang="en-US" sz="1100" b="1" spc="50" kern="0" dirty="0">
                <a:solidFill>
                  <a:srgbClr val="0D1F2D"/>
                </a:solidFill>
              </a:rPr>
              <a:t>🏆  RECOMMENDED: BERT Fine-tuning</a:t>
            </a:r>
            <a:endParaRPr lang="en-US" sz="1100" dirty="0"/>
          </a:p>
        </p:txBody>
      </p:sp>
      <p:sp>
        <p:nvSpPr>
          <p:cNvPr id="10" name="Text 8"/>
          <p:cNvSpPr/>
          <p:nvPr/>
        </p:nvSpPr>
        <p:spPr>
          <a:xfrm>
            <a:off x="475488" y="1828800"/>
            <a:ext cx="3749040" cy="804672"/>
          </a:xfrm>
          <a:prstGeom prst="rect">
            <a:avLst/>
          </a:prstGeom>
          <a:noFill/>
          <a:ln/>
        </p:spPr>
        <p:txBody>
          <a:bodyPr wrap="square" lIns="0" tIns="0" rIns="0" bIns="0" rtlCol="0" anchor="ctr"/>
          <a:lstStyle/>
          <a:p>
            <a:pPr indent="0" marL="0">
              <a:buNone/>
            </a:pPr>
            <a:r>
              <a:rPr lang="en-US" sz="1200" b="1" dirty="0">
                <a:solidFill>
                  <a:srgbClr val="0D1F2D"/>
                </a:solidFill>
              </a:rPr>
              <a:t>~90% accuracy</a:t>
            </a:r>
            <a:endParaRPr lang="en-US" sz="1200" dirty="0"/>
          </a:p>
          <a:p>
            <a:pPr indent="0" marL="0">
              <a:buNone/>
            </a:pPr>
            <a:r>
              <a:rPr lang="en-US" sz="1200" b="1" dirty="0">
                <a:solidFill>
                  <a:srgbClr val="0D1F2D"/>
                </a:solidFill>
              </a:rPr>
              <a:t>Highest F1 across all 5 sentence classes</a:t>
            </a:r>
            <a:endParaRPr lang="en-US" sz="1200" dirty="0"/>
          </a:p>
          <a:p>
            <a:pPr indent="0" marL="0">
              <a:buNone/>
            </a:pPr>
            <a:r>
              <a:rPr lang="en-US" sz="1200" b="1" dirty="0">
                <a:solidFill>
                  <a:srgbClr val="0D1F2D"/>
                </a:solidFill>
              </a:rPr>
              <a:t>Ready for API deployment</a:t>
            </a:r>
            <a:endParaRPr lang="en-US" sz="1200" dirty="0"/>
          </a:p>
        </p:txBody>
      </p:sp>
      <p:sp>
        <p:nvSpPr>
          <p:cNvPr id="11" name="Shape 9"/>
          <p:cNvSpPr/>
          <p:nvPr/>
        </p:nvSpPr>
        <p:spPr>
          <a:xfrm>
            <a:off x="347472" y="3063240"/>
            <a:ext cx="4023360" cy="1508760"/>
          </a:xfrm>
          <a:prstGeom prst="rect">
            <a:avLst/>
          </a:prstGeom>
          <a:solidFill>
            <a:srgbClr val="1A3348"/>
          </a:solidFill>
          <a:ln w="12700">
            <a:solidFill>
              <a:srgbClr val="1A9CB0"/>
            </a:solidFill>
            <a:prstDash val="solid"/>
          </a:ln>
        </p:spPr>
      </p:sp>
      <p:sp>
        <p:nvSpPr>
          <p:cNvPr id="12" name="Text 10"/>
          <p:cNvSpPr/>
          <p:nvPr/>
        </p:nvSpPr>
        <p:spPr>
          <a:xfrm>
            <a:off x="475488" y="3145536"/>
            <a:ext cx="3749040" cy="274320"/>
          </a:xfrm>
          <a:prstGeom prst="rect">
            <a:avLst/>
          </a:prstGeom>
          <a:noFill/>
          <a:ln/>
        </p:spPr>
        <p:txBody>
          <a:bodyPr wrap="square" lIns="0" tIns="0" rIns="0" bIns="0" rtlCol="0" anchor="ctr"/>
          <a:lstStyle/>
          <a:p>
            <a:pPr indent="0" marL="0">
              <a:buNone/>
            </a:pPr>
            <a:r>
              <a:rPr lang="en-US" sz="1000" b="1" spc="50" kern="0" dirty="0">
                <a:solidFill>
                  <a:srgbClr val="1A9CB0"/>
                </a:solidFill>
              </a:rPr>
              <a:t>⚡  LOW-RESOURCE OPTION: MiniLM</a:t>
            </a:r>
            <a:endParaRPr lang="en-US" sz="1000" dirty="0"/>
          </a:p>
        </p:txBody>
      </p:sp>
      <p:sp>
        <p:nvSpPr>
          <p:cNvPr id="13" name="Text 11"/>
          <p:cNvSpPr/>
          <p:nvPr/>
        </p:nvSpPr>
        <p:spPr>
          <a:xfrm>
            <a:off x="475488" y="3456432"/>
            <a:ext cx="3749040" cy="804672"/>
          </a:xfrm>
          <a:prstGeom prst="rect">
            <a:avLst/>
          </a:prstGeom>
          <a:noFill/>
          <a:ln/>
        </p:spPr>
        <p:txBody>
          <a:bodyPr wrap="square" lIns="0" tIns="0" rIns="0" bIns="0" rtlCol="0" anchor="ctr"/>
          <a:lstStyle/>
          <a:p>
            <a:pPr indent="0" marL="0">
              <a:buNone/>
            </a:pPr>
            <a:r>
              <a:rPr lang="en-US" sz="1100" dirty="0">
                <a:solidFill>
                  <a:srgbClr val="FFFFFF"/>
                </a:solidFill>
              </a:rPr>
              <a:t>~85% accuracy</a:t>
            </a:r>
            <a:endParaRPr lang="en-US" sz="1100" dirty="0"/>
          </a:p>
          <a:p>
            <a:pPr indent="0" marL="0">
              <a:buNone/>
            </a:pPr>
            <a:r>
              <a:rPr lang="en-US" sz="1100" dirty="0">
                <a:solidFill>
                  <a:srgbClr val="FFFFFF"/>
                </a:solidFill>
              </a:rPr>
              <a:t>No GPU required  ·  2 min/epoch on CPU</a:t>
            </a:r>
            <a:endParaRPr lang="en-US" sz="1100" dirty="0"/>
          </a:p>
          <a:p>
            <a:pPr indent="0" marL="0">
              <a:buNone/>
            </a:pPr>
            <a:r>
              <a:rPr lang="en-US" sz="1100" dirty="0">
                <a:solidFill>
                  <a:srgbClr val="FFFFFF"/>
                </a:solidFill>
              </a:rPr>
              <a:t>Ideal for real-time inference at scale</a:t>
            </a:r>
            <a:endParaRPr lang="en-US" sz="1100" dirty="0"/>
          </a:p>
        </p:txBody>
      </p:sp>
      <p:sp>
        <p:nvSpPr>
          <p:cNvPr id="14" name="Text 12"/>
          <p:cNvSpPr/>
          <p:nvPr/>
        </p:nvSpPr>
        <p:spPr>
          <a:xfrm>
            <a:off x="4709160" y="1389888"/>
            <a:ext cx="4114800" cy="320040"/>
          </a:xfrm>
          <a:prstGeom prst="rect">
            <a:avLst/>
          </a:prstGeom>
          <a:noFill/>
          <a:ln/>
        </p:spPr>
        <p:txBody>
          <a:bodyPr wrap="square" lIns="0" tIns="0" rIns="0" bIns="0" rtlCol="0" anchor="ctr"/>
          <a:lstStyle/>
          <a:p>
            <a:pPr indent="0" marL="0">
              <a:buNone/>
            </a:pPr>
            <a:r>
              <a:rPr lang="en-US" sz="1500" b="1" dirty="0">
                <a:solidFill>
                  <a:srgbClr val="F4A03A"/>
                </a:solidFill>
              </a:rPr>
              <a:t>Roadmap</a:t>
            </a:r>
            <a:endParaRPr lang="en-US" sz="1500" dirty="0"/>
          </a:p>
        </p:txBody>
      </p:sp>
      <p:sp>
        <p:nvSpPr>
          <p:cNvPr id="15" name="Shape 13"/>
          <p:cNvSpPr/>
          <p:nvPr/>
        </p:nvSpPr>
        <p:spPr>
          <a:xfrm>
            <a:off x="4709160" y="1810512"/>
            <a:ext cx="402336" cy="402336"/>
          </a:xfrm>
          <a:prstGeom prst="rect">
            <a:avLst/>
          </a:prstGeom>
          <a:solidFill>
            <a:srgbClr val="F4A03A"/>
          </a:solidFill>
          <a:ln w="12700">
            <a:solidFill>
              <a:srgbClr val="F4A03A"/>
            </a:solidFill>
            <a:prstDash val="solid"/>
          </a:ln>
        </p:spPr>
      </p:sp>
      <p:sp>
        <p:nvSpPr>
          <p:cNvPr id="16" name="Text 14"/>
          <p:cNvSpPr/>
          <p:nvPr/>
        </p:nvSpPr>
        <p:spPr>
          <a:xfrm>
            <a:off x="4709160" y="1865376"/>
            <a:ext cx="402336" cy="292608"/>
          </a:xfrm>
          <a:prstGeom prst="rect">
            <a:avLst/>
          </a:prstGeom>
          <a:noFill/>
          <a:ln/>
        </p:spPr>
        <p:txBody>
          <a:bodyPr wrap="square" lIns="0" tIns="0" rIns="0" bIns="0" rtlCol="0" anchor="ctr"/>
          <a:lstStyle/>
          <a:p>
            <a:pPr algn="ctr" indent="0" marL="0">
              <a:buNone/>
            </a:pPr>
            <a:r>
              <a:rPr lang="en-US" sz="1200" b="1" dirty="0">
                <a:solidFill>
                  <a:srgbClr val="0D1F2D"/>
                </a:solidFill>
              </a:rPr>
              <a:t>01</a:t>
            </a:r>
            <a:endParaRPr lang="en-US" sz="1200" dirty="0"/>
          </a:p>
        </p:txBody>
      </p:sp>
      <p:sp>
        <p:nvSpPr>
          <p:cNvPr id="17" name="Text 15"/>
          <p:cNvSpPr/>
          <p:nvPr/>
        </p:nvSpPr>
        <p:spPr>
          <a:xfrm>
            <a:off x="5230368" y="1828800"/>
            <a:ext cx="3566160" cy="256032"/>
          </a:xfrm>
          <a:prstGeom prst="rect">
            <a:avLst/>
          </a:prstGeom>
          <a:noFill/>
          <a:ln/>
        </p:spPr>
        <p:txBody>
          <a:bodyPr wrap="square" lIns="0" tIns="0" rIns="0" bIns="0" rtlCol="0" anchor="ctr"/>
          <a:lstStyle/>
          <a:p>
            <a:pPr indent="0" marL="0">
              <a:buNone/>
            </a:pPr>
            <a:r>
              <a:rPr lang="en-US" sz="1200" b="1" dirty="0">
                <a:solidFill>
                  <a:srgbClr val="FFFFFF"/>
                </a:solidFill>
              </a:rPr>
              <a:t>Swap in PubMedBERT</a:t>
            </a:r>
            <a:endParaRPr lang="en-US" sz="1200" dirty="0"/>
          </a:p>
        </p:txBody>
      </p:sp>
      <p:sp>
        <p:nvSpPr>
          <p:cNvPr id="18" name="Text 16"/>
          <p:cNvSpPr/>
          <p:nvPr/>
        </p:nvSpPr>
        <p:spPr>
          <a:xfrm>
            <a:off x="5230368" y="2084832"/>
            <a:ext cx="3566160" cy="365760"/>
          </a:xfrm>
          <a:prstGeom prst="rect">
            <a:avLst/>
          </a:prstGeom>
          <a:noFill/>
          <a:ln/>
        </p:spPr>
        <p:txBody>
          <a:bodyPr wrap="square" lIns="0" tIns="0" rIns="0" bIns="0" rtlCol="0" anchor="ctr"/>
          <a:lstStyle/>
          <a:p>
            <a:pPr indent="0" marL="0">
              <a:buNone/>
            </a:pPr>
            <a:r>
              <a:rPr lang="en-US" sz="950" dirty="0">
                <a:solidFill>
                  <a:srgbClr val="8AACBC"/>
                </a:solidFill>
              </a:rPr>
              <a:t>Replace bert-base with a model pretrained on PubMed text. Expected: +2–3% accuracy.</a:t>
            </a:r>
            <a:endParaRPr lang="en-US" sz="950" dirty="0"/>
          </a:p>
        </p:txBody>
      </p:sp>
      <p:sp>
        <p:nvSpPr>
          <p:cNvPr id="19" name="Shape 17"/>
          <p:cNvSpPr/>
          <p:nvPr/>
        </p:nvSpPr>
        <p:spPr>
          <a:xfrm>
            <a:off x="4709160" y="2560320"/>
            <a:ext cx="402336" cy="402336"/>
          </a:xfrm>
          <a:prstGeom prst="rect">
            <a:avLst/>
          </a:prstGeom>
          <a:solidFill>
            <a:srgbClr val="F4A03A"/>
          </a:solidFill>
          <a:ln w="12700">
            <a:solidFill>
              <a:srgbClr val="F4A03A"/>
            </a:solidFill>
            <a:prstDash val="solid"/>
          </a:ln>
        </p:spPr>
      </p:sp>
      <p:sp>
        <p:nvSpPr>
          <p:cNvPr id="20" name="Text 18"/>
          <p:cNvSpPr/>
          <p:nvPr/>
        </p:nvSpPr>
        <p:spPr>
          <a:xfrm>
            <a:off x="4709160" y="2615184"/>
            <a:ext cx="402336" cy="292608"/>
          </a:xfrm>
          <a:prstGeom prst="rect">
            <a:avLst/>
          </a:prstGeom>
          <a:noFill/>
          <a:ln/>
        </p:spPr>
        <p:txBody>
          <a:bodyPr wrap="square" lIns="0" tIns="0" rIns="0" bIns="0" rtlCol="0" anchor="ctr"/>
          <a:lstStyle/>
          <a:p>
            <a:pPr algn="ctr" indent="0" marL="0">
              <a:buNone/>
            </a:pPr>
            <a:r>
              <a:rPr lang="en-US" sz="1200" b="1" dirty="0">
                <a:solidFill>
                  <a:srgbClr val="0D1F2D"/>
                </a:solidFill>
              </a:rPr>
              <a:t>02</a:t>
            </a:r>
            <a:endParaRPr lang="en-US" sz="1200" dirty="0"/>
          </a:p>
        </p:txBody>
      </p:sp>
      <p:sp>
        <p:nvSpPr>
          <p:cNvPr id="21" name="Text 19"/>
          <p:cNvSpPr/>
          <p:nvPr/>
        </p:nvSpPr>
        <p:spPr>
          <a:xfrm>
            <a:off x="5230368" y="2578608"/>
            <a:ext cx="3566160" cy="256032"/>
          </a:xfrm>
          <a:prstGeom prst="rect">
            <a:avLst/>
          </a:prstGeom>
          <a:noFill/>
          <a:ln/>
        </p:spPr>
        <p:txBody>
          <a:bodyPr wrap="square" lIns="0" tIns="0" rIns="0" bIns="0" rtlCol="0" anchor="ctr"/>
          <a:lstStyle/>
          <a:p>
            <a:pPr indent="0" marL="0">
              <a:buNone/>
            </a:pPr>
            <a:r>
              <a:rPr lang="en-US" sz="1200" b="1" dirty="0">
                <a:solidFill>
                  <a:srgbClr val="FFFFFF"/>
                </a:solidFill>
              </a:rPr>
              <a:t>Add Sentence Position</a:t>
            </a:r>
            <a:endParaRPr lang="en-US" sz="1200" dirty="0"/>
          </a:p>
        </p:txBody>
      </p:sp>
      <p:sp>
        <p:nvSpPr>
          <p:cNvPr id="22" name="Text 20"/>
          <p:cNvSpPr/>
          <p:nvPr/>
        </p:nvSpPr>
        <p:spPr>
          <a:xfrm>
            <a:off x="5230368" y="2834640"/>
            <a:ext cx="3566160" cy="365760"/>
          </a:xfrm>
          <a:prstGeom prst="rect">
            <a:avLst/>
          </a:prstGeom>
          <a:noFill/>
          <a:ln/>
        </p:spPr>
        <p:txBody>
          <a:bodyPr wrap="square" lIns="0" tIns="0" rIns="0" bIns="0" rtlCol="0" anchor="ctr"/>
          <a:lstStyle/>
          <a:p>
            <a:pPr indent="0" marL="0">
              <a:buNone/>
            </a:pPr>
            <a:r>
              <a:rPr lang="en-US" sz="950" dirty="0">
                <a:solidFill>
                  <a:srgbClr val="8AACBC"/>
                </a:solidFill>
              </a:rPr>
              <a:t>Inject sentence position as a feature. Background comes first, Conclusions come last — strong signal.</a:t>
            </a:r>
            <a:endParaRPr lang="en-US" sz="950" dirty="0"/>
          </a:p>
        </p:txBody>
      </p:sp>
      <p:sp>
        <p:nvSpPr>
          <p:cNvPr id="23" name="Shape 21"/>
          <p:cNvSpPr/>
          <p:nvPr/>
        </p:nvSpPr>
        <p:spPr>
          <a:xfrm>
            <a:off x="4709160" y="3310128"/>
            <a:ext cx="402336" cy="402336"/>
          </a:xfrm>
          <a:prstGeom prst="rect">
            <a:avLst/>
          </a:prstGeom>
          <a:solidFill>
            <a:srgbClr val="F4A03A"/>
          </a:solidFill>
          <a:ln w="12700">
            <a:solidFill>
              <a:srgbClr val="F4A03A"/>
            </a:solidFill>
            <a:prstDash val="solid"/>
          </a:ln>
        </p:spPr>
      </p:sp>
      <p:sp>
        <p:nvSpPr>
          <p:cNvPr id="24" name="Text 22"/>
          <p:cNvSpPr/>
          <p:nvPr/>
        </p:nvSpPr>
        <p:spPr>
          <a:xfrm>
            <a:off x="4709160" y="3364992"/>
            <a:ext cx="402336" cy="292608"/>
          </a:xfrm>
          <a:prstGeom prst="rect">
            <a:avLst/>
          </a:prstGeom>
          <a:noFill/>
          <a:ln/>
        </p:spPr>
        <p:txBody>
          <a:bodyPr wrap="square" lIns="0" tIns="0" rIns="0" bIns="0" rtlCol="0" anchor="ctr"/>
          <a:lstStyle/>
          <a:p>
            <a:pPr algn="ctr" indent="0" marL="0">
              <a:buNone/>
            </a:pPr>
            <a:r>
              <a:rPr lang="en-US" sz="1200" b="1" dirty="0">
                <a:solidFill>
                  <a:srgbClr val="0D1F2D"/>
                </a:solidFill>
              </a:rPr>
              <a:t>03</a:t>
            </a:r>
            <a:endParaRPr lang="en-US" sz="1200" dirty="0"/>
          </a:p>
        </p:txBody>
      </p:sp>
      <p:sp>
        <p:nvSpPr>
          <p:cNvPr id="25" name="Text 23"/>
          <p:cNvSpPr/>
          <p:nvPr/>
        </p:nvSpPr>
        <p:spPr>
          <a:xfrm>
            <a:off x="5230368" y="3328416"/>
            <a:ext cx="3566160" cy="256032"/>
          </a:xfrm>
          <a:prstGeom prst="rect">
            <a:avLst/>
          </a:prstGeom>
          <a:noFill/>
          <a:ln/>
        </p:spPr>
        <p:txBody>
          <a:bodyPr wrap="square" lIns="0" tIns="0" rIns="0" bIns="0" rtlCol="0" anchor="ctr"/>
          <a:lstStyle/>
          <a:p>
            <a:pPr indent="0" marL="0">
              <a:buNone/>
            </a:pPr>
            <a:r>
              <a:rPr lang="en-US" sz="1200" b="1" dirty="0">
                <a:solidFill>
                  <a:srgbClr val="FFFFFF"/>
                </a:solidFill>
              </a:rPr>
              <a:t>Build the API</a:t>
            </a:r>
            <a:endParaRPr lang="en-US" sz="1200" dirty="0"/>
          </a:p>
        </p:txBody>
      </p:sp>
      <p:sp>
        <p:nvSpPr>
          <p:cNvPr id="26" name="Text 24"/>
          <p:cNvSpPr/>
          <p:nvPr/>
        </p:nvSpPr>
        <p:spPr>
          <a:xfrm>
            <a:off x="5230368" y="3584448"/>
            <a:ext cx="3566160" cy="365760"/>
          </a:xfrm>
          <a:prstGeom prst="rect">
            <a:avLst/>
          </a:prstGeom>
          <a:noFill/>
          <a:ln/>
        </p:spPr>
        <p:txBody>
          <a:bodyPr wrap="square" lIns="0" tIns="0" rIns="0" bIns="0" rtlCol="0" anchor="ctr"/>
          <a:lstStyle/>
          <a:p>
            <a:pPr indent="0" marL="0">
              <a:buNone/>
            </a:pPr>
            <a:r>
              <a:rPr lang="en-US" sz="950" dirty="0">
                <a:solidFill>
                  <a:srgbClr val="8AACBC"/>
                </a:solidFill>
              </a:rPr>
              <a:t>FastAPI endpoint: POST abstract → receive JSON array of labelled sentences.</a:t>
            </a:r>
            <a:endParaRPr lang="en-US" sz="950" dirty="0"/>
          </a:p>
        </p:txBody>
      </p:sp>
      <p:sp>
        <p:nvSpPr>
          <p:cNvPr id="27" name="Shape 25"/>
          <p:cNvSpPr/>
          <p:nvPr/>
        </p:nvSpPr>
        <p:spPr>
          <a:xfrm>
            <a:off x="4709160" y="4059936"/>
            <a:ext cx="402336" cy="402336"/>
          </a:xfrm>
          <a:prstGeom prst="rect">
            <a:avLst/>
          </a:prstGeom>
          <a:solidFill>
            <a:srgbClr val="F4A03A"/>
          </a:solidFill>
          <a:ln w="12700">
            <a:solidFill>
              <a:srgbClr val="F4A03A"/>
            </a:solidFill>
            <a:prstDash val="solid"/>
          </a:ln>
        </p:spPr>
      </p:sp>
      <p:sp>
        <p:nvSpPr>
          <p:cNvPr id="28" name="Text 26"/>
          <p:cNvSpPr/>
          <p:nvPr/>
        </p:nvSpPr>
        <p:spPr>
          <a:xfrm>
            <a:off x="4709160" y="4114800"/>
            <a:ext cx="402336" cy="292608"/>
          </a:xfrm>
          <a:prstGeom prst="rect">
            <a:avLst/>
          </a:prstGeom>
          <a:noFill/>
          <a:ln/>
        </p:spPr>
        <p:txBody>
          <a:bodyPr wrap="square" lIns="0" tIns="0" rIns="0" bIns="0" rtlCol="0" anchor="ctr"/>
          <a:lstStyle/>
          <a:p>
            <a:pPr algn="ctr" indent="0" marL="0">
              <a:buNone/>
            </a:pPr>
            <a:r>
              <a:rPr lang="en-US" sz="1200" b="1" dirty="0">
                <a:solidFill>
                  <a:srgbClr val="0D1F2D"/>
                </a:solidFill>
              </a:rPr>
              <a:t>04</a:t>
            </a:r>
            <a:endParaRPr lang="en-US" sz="1200" dirty="0"/>
          </a:p>
        </p:txBody>
      </p:sp>
      <p:sp>
        <p:nvSpPr>
          <p:cNvPr id="29" name="Text 27"/>
          <p:cNvSpPr/>
          <p:nvPr/>
        </p:nvSpPr>
        <p:spPr>
          <a:xfrm>
            <a:off x="5230368" y="4078224"/>
            <a:ext cx="3566160" cy="256032"/>
          </a:xfrm>
          <a:prstGeom prst="rect">
            <a:avLst/>
          </a:prstGeom>
          <a:noFill/>
          <a:ln/>
        </p:spPr>
        <p:txBody>
          <a:bodyPr wrap="square" lIns="0" tIns="0" rIns="0" bIns="0" rtlCol="0" anchor="ctr"/>
          <a:lstStyle/>
          <a:p>
            <a:pPr indent="0" marL="0">
              <a:buNone/>
            </a:pPr>
            <a:r>
              <a:rPr lang="en-US" sz="1200" b="1" dirty="0">
                <a:solidFill>
                  <a:srgbClr val="FFFFFF"/>
                </a:solidFill>
              </a:rPr>
              <a:t>Integrate Downstream</a:t>
            </a:r>
            <a:endParaRPr lang="en-US" sz="1200" dirty="0"/>
          </a:p>
        </p:txBody>
      </p:sp>
      <p:sp>
        <p:nvSpPr>
          <p:cNvPr id="30" name="Text 28"/>
          <p:cNvSpPr/>
          <p:nvPr/>
        </p:nvSpPr>
        <p:spPr>
          <a:xfrm>
            <a:off x="5230368" y="4334256"/>
            <a:ext cx="3566160" cy="365760"/>
          </a:xfrm>
          <a:prstGeom prst="rect">
            <a:avLst/>
          </a:prstGeom>
          <a:noFill/>
          <a:ln/>
        </p:spPr>
        <p:txBody>
          <a:bodyPr wrap="square" lIns="0" tIns="0" rIns="0" bIns="0" rtlCol="0" anchor="ctr"/>
          <a:lstStyle/>
          <a:p>
            <a:pPr indent="0" marL="0">
              <a:buNone/>
            </a:pPr>
            <a:r>
              <a:rPr lang="en-US" sz="950" dirty="0">
                <a:solidFill>
                  <a:srgbClr val="8AACBC"/>
                </a:solidFill>
              </a:rPr>
              <a:t>Plug into search, EHR, or dashboard tools for filtered, section-level access to evidence.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Sequential Sentence Classification — Capstone</dc:title>
  <dc:subject>PptxGenJS Presentation</dc:subject>
  <dc:creator>PptxGenJS</dc:creator>
  <cp:lastModifiedBy>PptxGenJS</cp:lastModifiedBy>
  <cp:revision>1</cp:revision>
  <dcterms:created xsi:type="dcterms:W3CDTF">2026-03-01T14:12:36Z</dcterms:created>
  <dcterms:modified xsi:type="dcterms:W3CDTF">2026-03-01T14:12:36Z</dcterms:modified>
</cp:coreProperties>
</file>